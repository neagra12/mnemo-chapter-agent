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Lecture 1 (Week 9): The Modern Web &amp; The Engineering Mindset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 Title Slide</a:t>
            </a:r>
          </a:p>
        </p:txBody>
      </p:sp>
      <p:sp>
        <p:nvSpPr>
          <p:cNvPr id="3" name="Content Placeholder 2"/>
          <p:cNvSpPr>
            <a:spLocks noGrp="1"/>
          </p:cNvSpPr>
          <p:nvPr>
            <p:ph idx="1"/>
          </p:nvPr>
        </p:nvSpPr>
        <p:spPr/>
        <p:txBody>
          <a:bodyPr/>
          <a:lstStyle/>
          <a:p>
            <a:pPr lvl="0"/>
            <a:r>
              <a:rPr b="1"/>
              <a:t>Topic:</a:t>
            </a:r>
            <a:r>
              <a:rPr/>
              <a:t> The Engineering Mindset &amp; The Modern Web</a:t>
            </a:r>
          </a:p>
          <a:p>
            <a:pPr lvl="0"/>
            <a:r>
              <a:rPr b="1"/>
              <a:t>Course:</a:t>
            </a:r>
            <a:r>
              <a:rPr/>
              <a:t> Software Engineering (CSCI-P 465)</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2: Learning Objectives</a:t>
            </a:r>
          </a:p>
        </p:txBody>
      </p:sp>
      <p:sp>
        <p:nvSpPr>
          <p:cNvPr id="3" name="Content Placeholder 2"/>
          <p:cNvSpPr>
            <a:spLocks noGrp="1"/>
          </p:cNvSpPr>
          <p:nvPr>
            <p:ph idx="1"/>
          </p:nvPr>
        </p:nvSpPr>
        <p:spPr/>
        <p:txBody>
          <a:bodyPr/>
          <a:lstStyle/>
          <a:p>
            <a:pPr lvl="0"/>
            <a:r>
              <a:rPr/>
              <a:t>By the end of this lecture and ICE, you will be able to:</a:t>
            </a:r>
          </a:p>
          <a:p>
            <a:pPr lvl="0"/>
            <a:r>
              <a:rPr b="1"/>
              <a:t>Describe</a:t>
            </a:r>
            <a:r>
              <a:rPr/>
              <a:t> the “greenfield” software development model and how it contrasts with our “brownfield” </a:t>
            </a:r>
            <a:r>
              <a:rPr>
                <a:latin typeface="Courier"/>
              </a:rPr>
              <a:t>Angband</a:t>
            </a:r>
            <a:r>
              <a:rPr/>
              <a:t> project.</a:t>
            </a:r>
          </a:p>
          <a:p>
            <a:pPr lvl="0"/>
            <a:r>
              <a:rPr b="1"/>
              <a:t>Define</a:t>
            </a:r>
            <a:r>
              <a:rPr/>
              <a:t> the client-server model and the basic roles of HTTP (</a:t>
            </a:r>
            <a:r>
              <a:rPr>
                <a:latin typeface="Courier"/>
              </a:rPr>
              <a:t>GET</a:t>
            </a:r>
            <a:r>
              <a:rPr/>
              <a:t>/</a:t>
            </a:r>
            <a:r>
              <a:rPr>
                <a:latin typeface="Courier"/>
              </a:rPr>
              <a:t>POST</a:t>
            </a:r>
            <a:r>
              <a:rPr/>
              <a:t>).</a:t>
            </a:r>
          </a:p>
          <a:p>
            <a:pPr lvl="0"/>
            <a:r>
              <a:rPr b="1"/>
              <a:t>Explain</a:t>
            </a:r>
            <a:r>
              <a:rPr/>
              <a:t> the role of a web framework (like Flask).</a:t>
            </a:r>
          </a:p>
          <a:p>
            <a:pPr lvl="0"/>
            <a:r>
              <a:rPr b="1"/>
              <a:t>Run</a:t>
            </a:r>
            <a:r>
              <a:rPr/>
              <a:t> a local web server using the Flask starter kit.</a:t>
            </a:r>
          </a:p>
          <a:p>
            <a:pPr lvl="0"/>
            <a:r>
              <a:rPr b="1"/>
              <a:t>Set up</a:t>
            </a:r>
            <a:r>
              <a:rPr/>
              <a:t> your team’s complete, professional GitHub environment (ICE 1).</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3: Welcome to “Part 2” - Greenfield Development</a:t>
            </a:r>
          </a:p>
        </p:txBody>
      </p:sp>
      <p:sp>
        <p:nvSpPr>
          <p:cNvPr id="3" name="Content Placeholder 2"/>
          <p:cNvSpPr>
            <a:spLocks noGrp="1"/>
          </p:cNvSpPr>
          <p:nvPr>
            <p:ph idx="1"/>
          </p:nvPr>
        </p:nvSpPr>
        <p:spPr/>
        <p:txBody>
          <a:bodyPr/>
          <a:lstStyle/>
          <a:p>
            <a:pPr lvl="0"/>
            <a:r>
              <a:rPr b="1"/>
              <a:t>Key Point:</a:t>
            </a:r>
            <a:r>
              <a:rPr/>
              <a:t> We are shifting from “archaeology” to “architecture.”</a:t>
            </a:r>
          </a:p>
          <a:p>
            <a:pPr lvl="0"/>
            <a:r>
              <a:rPr b="1"/>
              <a:t>Part 1 (Brownfield - </a:t>
            </a:r>
            <a:r>
              <a:rPr b="1">
                <a:latin typeface="Courier"/>
              </a:rPr>
              <a:t>Angband</a:t>
            </a:r>
            <a:r>
              <a:rPr b="1"/>
              <a:t>):</a:t>
            </a:r>
          </a:p>
          <a:p>
            <a:pPr lvl="1"/>
            <a:r>
              <a:rPr/>
              <a:t>You were an engineer on a complex, mature, legacy project.</a:t>
            </a:r>
          </a:p>
          <a:p>
            <a:pPr lvl="1"/>
            <a:r>
              <a:rPr/>
              <a:t>Your main skills were </a:t>
            </a:r>
            <a:r>
              <a:rPr b="1"/>
              <a:t>reading C code</a:t>
            </a:r>
            <a:r>
              <a:rPr/>
              <a:t>, </a:t>
            </a:r>
            <a:r>
              <a:rPr b="1"/>
              <a:t>analysis</a:t>
            </a:r>
            <a:r>
              <a:rPr/>
              <a:t>, and </a:t>
            </a:r>
            <a:r>
              <a:rPr b="1"/>
              <a:t>navigation</a:t>
            </a:r>
            <a:r>
              <a:rPr/>
              <a:t>.</a:t>
            </a:r>
          </a:p>
          <a:p>
            <a:pPr lvl="1"/>
            <a:r>
              <a:rPr/>
              <a:t>This is a </a:t>
            </a:r>
            <a:r>
              <a:rPr i="1"/>
              <a:t>realistic</a:t>
            </a:r>
            <a:r>
              <a:rPr/>
              <a:t> experience for many first-time engineers.</a:t>
            </a:r>
          </a:p>
          <a:p>
            <a:pPr lvl="0"/>
            <a:r>
              <a:rPr b="1"/>
              <a:t>Part 2 (Greenfield - “MoJ”):</a:t>
            </a:r>
          </a:p>
          <a:p>
            <a:pPr lvl="1"/>
            <a:r>
              <a:rPr/>
              <a:t>You are a founding engineer on a brand-new project.</a:t>
            </a:r>
          </a:p>
          <a:p>
            <a:pPr lvl="1"/>
            <a:r>
              <a:rPr/>
              <a:t>Your main skills will be </a:t>
            </a:r>
            <a:r>
              <a:rPr b="1"/>
              <a:t>building architecture</a:t>
            </a:r>
            <a:r>
              <a:rPr/>
              <a:t>, </a:t>
            </a:r>
            <a:r>
              <a:rPr b="1"/>
              <a:t>making design decisions</a:t>
            </a:r>
            <a:r>
              <a:rPr/>
              <a:t>, and </a:t>
            </a:r>
            <a:r>
              <a:rPr b="1"/>
              <a:t>automating process</a:t>
            </a:r>
            <a:r>
              <a:rPr/>
              <a:t>.</a:t>
            </a:r>
          </a:p>
          <a:p>
            <a:pPr lvl="1"/>
            <a:r>
              <a:rPr/>
              <a:t>This is the </a:t>
            </a:r>
            <a:r>
              <a:rPr i="1"/>
              <a:t>other</a:t>
            </a:r>
            <a:r>
              <a:rPr/>
              <a:t> realistic experience.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4: Our New Project: “The Ministry of Jokes” (MoJ)</a:t>
            </a:r>
          </a:p>
        </p:txBody>
      </p:sp>
      <p:sp>
        <p:nvSpPr>
          <p:cNvPr id="3" name="Content Placeholder 2"/>
          <p:cNvSpPr>
            <a:spLocks noGrp="1"/>
          </p:cNvSpPr>
          <p:nvPr>
            <p:ph idx="1"/>
          </p:nvPr>
        </p:nvSpPr>
        <p:spPr/>
        <p:txBody>
          <a:bodyPr/>
          <a:lstStyle/>
          <a:p>
            <a:pPr lvl="0"/>
            <a:r>
              <a:rPr b="1"/>
              <a:t>Key Point:</a:t>
            </a:r>
            <a:r>
              <a:rPr/>
              <a:t> We are building a full-stack web application from scratch.</a:t>
            </a:r>
          </a:p>
          <a:p>
            <a:pPr lvl="0"/>
            <a:r>
              <a:rPr b="1"/>
              <a:t>The Concept:</a:t>
            </a:r>
            <a:r>
              <a:rPr/>
              <a:t> A simple, self-sustaining content economy.</a:t>
            </a:r>
          </a:p>
          <a:p>
            <a:pPr lvl="0"/>
            <a:r>
              <a:rPr b="1"/>
              <a:t>The Core Business Logic:</a:t>
            </a:r>
          </a:p>
          <a:p>
            <a:pPr lvl="1" indent="-342900" marL="685800">
              <a:buAutoNum type="arabicPeriod"/>
            </a:pPr>
            <a:r>
              <a:rPr/>
              <a:t>A new user can </a:t>
            </a:r>
            <a:r>
              <a:rPr i="1"/>
              <a:t>only</a:t>
            </a:r>
            <a:r>
              <a:rPr/>
              <a:t> register or log in.</a:t>
            </a:r>
          </a:p>
          <a:p>
            <a:pPr lvl="1" indent="-342900" marL="685800">
              <a:buAutoNum type="arabicPeriod"/>
            </a:pPr>
            <a:r>
              <a:rPr/>
              <a:t>To </a:t>
            </a:r>
            <a:r>
              <a:rPr i="1"/>
              <a:t>see</a:t>
            </a:r>
            <a:r>
              <a:rPr/>
              <a:t> jokes from the community, a user must first </a:t>
            </a:r>
            <a:r>
              <a:rPr i="1"/>
              <a:t>contribute</a:t>
            </a:r>
            <a:r>
              <a:rPr/>
              <a:t> a joke of their own.</a:t>
            </a:r>
          </a:p>
          <a:p>
            <a:pPr lvl="0"/>
            <a:r>
              <a:rPr b="1"/>
              <a:t>Your Job:</a:t>
            </a:r>
            <a:r>
              <a:rPr/>
              <a:t> To build and deploy this entire system as an engineering team.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5: The Big Picture: The Client-Server Model</a:t>
            </a:r>
          </a:p>
        </p:txBody>
      </p:sp>
      <p:sp>
        <p:nvSpPr>
          <p:cNvPr id="3" name="Content Placeholder 2"/>
          <p:cNvSpPr>
            <a:spLocks noGrp="1"/>
          </p:cNvSpPr>
          <p:nvPr>
            <p:ph idx="1"/>
          </p:nvPr>
        </p:nvSpPr>
        <p:spPr/>
        <p:txBody>
          <a:bodyPr/>
          <a:lstStyle/>
          <a:p>
            <a:pPr lvl="0"/>
            <a:r>
              <a:rPr b="1"/>
              <a:t>Key Point:</a:t>
            </a:r>
            <a:r>
              <a:rPr/>
              <a:t> All web applications share this basic architecture.</a:t>
            </a:r>
          </a:p>
          <a:p>
            <a:pPr lvl="0"/>
            <a:r>
              <a:rPr b="1"/>
              <a:t>The Client:</a:t>
            </a:r>
          </a:p>
          <a:p>
            <a:pPr lvl="1"/>
            <a:r>
              <a:rPr/>
              <a:t>The web browser (Chrome, Firefox, Safari) on a user’s machine.</a:t>
            </a:r>
          </a:p>
          <a:p>
            <a:pPr lvl="1"/>
            <a:r>
              <a:rPr/>
              <a:t>Its job is to </a:t>
            </a:r>
            <a:r>
              <a:rPr i="1"/>
              <a:t>request</a:t>
            </a:r>
            <a:r>
              <a:rPr/>
              <a:t> data and </a:t>
            </a:r>
            <a:r>
              <a:rPr i="1"/>
              <a:t>display</a:t>
            </a:r>
            <a:r>
              <a:rPr/>
              <a:t> it.</a:t>
            </a:r>
          </a:p>
          <a:p>
            <a:pPr lvl="0"/>
            <a:r>
              <a:rPr b="1"/>
              <a:t>The Server:</a:t>
            </a:r>
          </a:p>
          <a:p>
            <a:pPr lvl="1"/>
            <a:r>
              <a:rPr b="1"/>
              <a:t>This is what you are building.</a:t>
            </a:r>
            <a:r>
              <a:rPr/>
              <a:t> It’s a computer running your Flask application.</a:t>
            </a:r>
          </a:p>
          <a:p>
            <a:pPr lvl="1"/>
            <a:r>
              <a:rPr/>
              <a:t>Its job is to </a:t>
            </a:r>
            <a:r>
              <a:rPr i="1"/>
              <a:t>listen</a:t>
            </a:r>
            <a:r>
              <a:rPr/>
              <a:t> for requests, </a:t>
            </a:r>
            <a:r>
              <a:rPr i="1"/>
              <a:t>process</a:t>
            </a:r>
            <a:r>
              <a:rPr/>
              <a:t> them (e.g., talk to a database), and </a:t>
            </a:r>
            <a:r>
              <a:rPr i="1"/>
              <a:t>send back</a:t>
            </a:r>
            <a:r>
              <a:rPr/>
              <a:t> a response.</a:t>
            </a:r>
          </a:p>
          <a:p>
            <a:pPr lvl="0"/>
            <a:r>
              <a:rPr b="1"/>
              <a:t>The Diagram:</a:t>
            </a:r>
            <a:r>
              <a:rPr/>
              <a:t> </a:t>
            </a:r>
            <a:r>
              <a:rPr>
                <a:latin typeface="Courier"/>
              </a:rPr>
              <a:t>[Client (Browser)] &lt;---- (The Internet) ----&gt; [Server (Your Flask App)]</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6: Historical Hook: Where did the “Web” come from?</a:t>
            </a:r>
          </a:p>
        </p:txBody>
      </p:sp>
      <p:sp>
        <p:nvSpPr>
          <p:cNvPr id="3" name="Content Placeholder 2"/>
          <p:cNvSpPr>
            <a:spLocks noGrp="1"/>
          </p:cNvSpPr>
          <p:nvPr>
            <p:ph idx="1"/>
          </p:nvPr>
        </p:nvSpPr>
        <p:spPr/>
        <p:txBody>
          <a:bodyPr/>
          <a:lstStyle/>
          <a:p>
            <a:pPr lvl="0"/>
            <a:r>
              <a:rPr b="1"/>
              <a:t>Key Point:</a:t>
            </a:r>
            <a:r>
              <a:rPr/>
              <a:t> The web was invented at </a:t>
            </a:r>
            <a:r>
              <a:rPr b="1"/>
              <a:t>CERN</a:t>
            </a:r>
            <a:r>
              <a:rPr/>
              <a:t> in 1989 by Tim Berners-Lee.</a:t>
            </a:r>
          </a:p>
          <a:p>
            <a:pPr lvl="0"/>
            <a:r>
              <a:rPr b="1"/>
              <a:t>The Problem:</a:t>
            </a:r>
            <a:r>
              <a:rPr/>
              <a:t> Scientists at CERN needed to share research documents with colleagues all over the world.</a:t>
            </a:r>
          </a:p>
          <a:p>
            <a:pPr lvl="0"/>
            <a:r>
              <a:rPr b="1"/>
              <a:t>The Solution:</a:t>
            </a:r>
            <a:r>
              <a:rPr/>
              <a:t> He invented three core technologies to solve this:</a:t>
            </a:r>
          </a:p>
          <a:p>
            <a:pPr lvl="1" indent="-342900" marL="685800">
              <a:buAutoNum type="arabicPeriod"/>
            </a:pPr>
            <a:r>
              <a:rPr b="1"/>
              <a:t>URL (Uniform Resource Locator):</a:t>
            </a:r>
            <a:r>
              <a:rPr/>
              <a:t> A standard “address” for every document (e.g., </a:t>
            </a:r>
            <a:r>
              <a:rPr>
                <a:latin typeface="Courier"/>
              </a:rPr>
              <a:t>http://info.cern.ch</a:t>
            </a:r>
            <a:r>
              <a:rPr/>
              <a:t>).</a:t>
            </a:r>
          </a:p>
          <a:p>
            <a:pPr lvl="1" indent="-342900" marL="685800">
              <a:buAutoNum type="arabicPeriod"/>
            </a:pPr>
            <a:r>
              <a:rPr b="1"/>
              <a:t>HTML (HyperText Markup Language):</a:t>
            </a:r>
            <a:r>
              <a:rPr/>
              <a:t> The standard “format” for the documents.</a:t>
            </a:r>
          </a:p>
          <a:p>
            <a:pPr lvl="1" indent="-342900" marL="685800">
              <a:buAutoNum type="arabicPeriod"/>
            </a:pPr>
            <a:r>
              <a:rPr b="1"/>
              <a:t>HTTP (HyperText Transfer Protocol):</a:t>
            </a:r>
            <a:r>
              <a:rPr/>
              <a:t> The standard “language” for a client to </a:t>
            </a:r>
            <a:r>
              <a:rPr i="1"/>
              <a:t>request</a:t>
            </a:r>
            <a:r>
              <a:rPr/>
              <a:t> a document from a server.</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7: Core Concept: What is HTTP?</a:t>
            </a:r>
          </a:p>
        </p:txBody>
      </p:sp>
      <p:sp>
        <p:nvSpPr>
          <p:cNvPr id="3" name="Content Placeholder 2"/>
          <p:cNvSpPr>
            <a:spLocks noGrp="1"/>
          </p:cNvSpPr>
          <p:nvPr>
            <p:ph idx="1"/>
          </p:nvPr>
        </p:nvSpPr>
        <p:spPr/>
        <p:txBody>
          <a:bodyPr/>
          <a:lstStyle/>
          <a:p>
            <a:pPr lvl="0"/>
            <a:r>
              <a:rPr b="1"/>
              <a:t>Key Point:</a:t>
            </a:r>
            <a:r>
              <a:rPr/>
              <a:t> HTTP is the “language” of the web. It’s a simple, text-based </a:t>
            </a:r>
            <a:r>
              <a:rPr b="1"/>
              <a:t>request-response protocol</a:t>
            </a:r>
            <a:r>
              <a:rPr/>
              <a:t>.</a:t>
            </a:r>
          </a:p>
          <a:p>
            <a:pPr lvl="0"/>
            <a:r>
              <a:rPr b="1"/>
              <a:t>The “Request” (from Client):</a:t>
            </a:r>
          </a:p>
          <a:p>
            <a:pPr lvl="1"/>
            <a:r>
              <a:rPr/>
              <a:t>“Hello Server, I’m a Chrome browser.”</a:t>
            </a:r>
          </a:p>
          <a:p>
            <a:pPr lvl="1"/>
            <a:r>
              <a:rPr/>
              <a:t>“I would like to </a:t>
            </a:r>
            <a:r>
              <a:rPr>
                <a:latin typeface="Courier"/>
              </a:rPr>
              <a:t>GET</a:t>
            </a:r>
            <a:r>
              <a:rPr/>
              <a:t> the document at the URL </a:t>
            </a:r>
            <a:r>
              <a:rPr>
                <a:latin typeface="Courier"/>
              </a:rPr>
              <a:t>/jokes</a:t>
            </a:r>
            <a:r>
              <a:rPr/>
              <a:t>.”</a:t>
            </a:r>
          </a:p>
          <a:p>
            <a:pPr lvl="0"/>
            <a:r>
              <a:rPr b="1"/>
              <a:t>The “Response” (from Server):</a:t>
            </a:r>
          </a:p>
          <a:p>
            <a:pPr lvl="1"/>
            <a:r>
              <a:rPr/>
              <a:t>“OK, I found that. The request was successful (Status: </a:t>
            </a:r>
            <a:r>
              <a:rPr>
                <a:latin typeface="Courier"/>
              </a:rPr>
              <a:t>200 OK</a:t>
            </a:r>
            <a:r>
              <a:rPr/>
              <a:t>).”</a:t>
            </a:r>
          </a:p>
          <a:p>
            <a:pPr lvl="1"/>
            <a:r>
              <a:rPr/>
              <a:t>“Here is the HTML document you asked for: </a:t>
            </a:r>
            <a:r>
              <a:rPr>
                <a:latin typeface="Courier"/>
              </a:rPr>
              <a:t>&lt;html&gt;...&lt;/html&gt;</a:t>
            </a:r>
            <a:r>
              <a:rPr/>
              <a:t>”</a:t>
            </a:r>
          </a:p>
          <a:p>
            <a:pPr lvl="0"/>
            <a:r>
              <a:rPr/>
              <a:t>Speaker Note: Emphasize that HTTP is just a set of rules for formatting these two text messages.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8: HTTP “Verbs”: The Two You Need to Know</a:t>
            </a:r>
          </a:p>
        </p:txBody>
      </p:sp>
      <p:sp>
        <p:nvSpPr>
          <p:cNvPr id="3" name="Content Placeholder 2"/>
          <p:cNvSpPr>
            <a:spLocks noGrp="1"/>
          </p:cNvSpPr>
          <p:nvPr>
            <p:ph idx="1"/>
          </p:nvPr>
        </p:nvSpPr>
        <p:spPr/>
        <p:txBody>
          <a:bodyPr/>
          <a:lstStyle/>
          <a:p>
            <a:pPr lvl="0"/>
            <a:r>
              <a:rPr b="1"/>
              <a:t>Key Point:</a:t>
            </a:r>
            <a:r>
              <a:rPr/>
              <a:t> Verbs tell the server </a:t>
            </a:r>
            <a:r>
              <a:rPr i="1"/>
              <a:t>what action</a:t>
            </a:r>
            <a:r>
              <a:rPr/>
              <a:t> the client wants to perform.</a:t>
            </a:r>
          </a:p>
          <a:p>
            <a:pPr lvl="0"/>
            <a:r>
              <a:rPr b="1">
                <a:latin typeface="Courier"/>
              </a:rPr>
              <a:t>GET</a:t>
            </a:r>
          </a:p>
          <a:p>
            <a:pPr lvl="1"/>
            <a:r>
              <a:rPr/>
              <a:t>The most common verb.</a:t>
            </a:r>
          </a:p>
          <a:p>
            <a:pPr lvl="1"/>
            <a:r>
              <a:rPr b="1"/>
              <a:t>Meaning:</a:t>
            </a:r>
            <a:r>
              <a:rPr/>
              <a:t> “Please </a:t>
            </a:r>
            <a:r>
              <a:rPr b="1"/>
              <a:t>give me</a:t>
            </a:r>
            <a:r>
              <a:rPr/>
              <a:t> this resource.”</a:t>
            </a:r>
          </a:p>
          <a:p>
            <a:pPr lvl="1"/>
            <a:r>
              <a:rPr b="1"/>
              <a:t>Used for:</a:t>
            </a:r>
            <a:r>
              <a:rPr/>
              <a:t> Loading a web page, fetching a list of jokes, downloading an image. It’s a read-only operation.</a:t>
            </a:r>
          </a:p>
          <a:p>
            <a:pPr lvl="0"/>
            <a:r>
              <a:rPr b="1">
                <a:latin typeface="Courier"/>
              </a:rPr>
              <a:t>POST</a:t>
            </a:r>
          </a:p>
          <a:p>
            <a:pPr lvl="1"/>
            <a:r>
              <a:rPr/>
              <a:t>The second most common verb.</a:t>
            </a:r>
          </a:p>
          <a:p>
            <a:pPr lvl="1"/>
            <a:r>
              <a:rPr b="1"/>
              <a:t>Meaning:</a:t>
            </a:r>
            <a:r>
              <a:rPr/>
              <a:t> “Please </a:t>
            </a:r>
            <a:r>
              <a:rPr b="1"/>
              <a:t>accept this data</a:t>
            </a:r>
            <a:r>
              <a:rPr/>
              <a:t> from me.”</a:t>
            </a:r>
          </a:p>
          <a:p>
            <a:pPr lvl="1"/>
            <a:r>
              <a:rPr b="1"/>
              <a:t>Used for:</a:t>
            </a:r>
            <a:r>
              <a:rPr/>
              <a:t> Submitting a login form, posting a new joke, updating your profile. It </a:t>
            </a:r>
            <a:r>
              <a:rPr i="1"/>
              <a:t>changes</a:t>
            </a:r>
            <a:r>
              <a:rPr/>
              <a:t> data on the server.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9: The Problem: Handling Requests is Hard</a:t>
            </a:r>
          </a:p>
        </p:txBody>
      </p:sp>
      <p:sp>
        <p:nvSpPr>
          <p:cNvPr id="3" name="Content Placeholder 2"/>
          <p:cNvSpPr>
            <a:spLocks noGrp="1"/>
          </p:cNvSpPr>
          <p:nvPr>
            <p:ph idx="1"/>
          </p:nvPr>
        </p:nvSpPr>
        <p:spPr/>
        <p:txBody>
          <a:bodyPr/>
          <a:lstStyle/>
          <a:p>
            <a:pPr lvl="0"/>
            <a:r>
              <a:rPr b="1"/>
              <a:t>Key Point:</a:t>
            </a:r>
            <a:r>
              <a:rPr/>
              <a:t> If we had to build a server from scratch, we’d have to:</a:t>
            </a:r>
          </a:p>
          <a:p>
            <a:pPr lvl="1" indent="-342900" marL="685800">
              <a:buAutoNum type="arabicPeriod"/>
            </a:pPr>
            <a:r>
              <a:rPr/>
              <a:t>Open a network “socket” on our server.</a:t>
            </a:r>
          </a:p>
          <a:p>
            <a:pPr lvl="1" indent="-342900" marL="685800">
              <a:buAutoNum type="arabicPeriod"/>
            </a:pPr>
            <a:r>
              <a:rPr/>
              <a:t>Listen for new connections.</a:t>
            </a:r>
          </a:p>
          <a:p>
            <a:pPr lvl="1" indent="-342900" marL="685800">
              <a:buAutoNum type="arabicPeriod"/>
            </a:pPr>
            <a:r>
              <a:rPr/>
              <a:t>Manually read the raw HTTP request text (e.g., </a:t>
            </a:r>
            <a:r>
              <a:rPr>
                <a:latin typeface="Courier"/>
              </a:rPr>
              <a:t>GET /jokes ...</a:t>
            </a:r>
            <a:r>
              <a:rPr/>
              <a:t>).</a:t>
            </a:r>
          </a:p>
          <a:p>
            <a:pPr lvl="1" indent="-342900" marL="685800">
              <a:buAutoNum type="arabicPeriod"/>
            </a:pPr>
            <a:r>
              <a:rPr/>
              <a:t>Manually parse that text to figure out what the user wants.</a:t>
            </a:r>
          </a:p>
          <a:p>
            <a:pPr lvl="1" indent="-342900" marL="685800">
              <a:buAutoNum type="arabicPeriod"/>
            </a:pPr>
            <a:r>
              <a:rPr/>
              <a:t>Manually format a valid HTTP response.</a:t>
            </a:r>
          </a:p>
          <a:p>
            <a:pPr lvl="0"/>
            <a:r>
              <a:rPr b="1"/>
              <a:t>This is tedious and error-prone. We just want to write Python!</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10: The Solution: A Web Framework (Flask)</a:t>
            </a:r>
          </a:p>
        </p:txBody>
      </p:sp>
      <p:sp>
        <p:nvSpPr>
          <p:cNvPr id="3" name="Content Placeholder 2"/>
          <p:cNvSpPr>
            <a:spLocks noGrp="1"/>
          </p:cNvSpPr>
          <p:nvPr>
            <p:ph idx="1"/>
          </p:nvPr>
        </p:nvSpPr>
        <p:spPr/>
        <p:txBody>
          <a:bodyPr/>
          <a:lstStyle/>
          <a:p>
            <a:pPr lvl="0"/>
            <a:r>
              <a:rPr b="1"/>
              <a:t>Key Point:</a:t>
            </a:r>
            <a:r>
              <a:rPr/>
              <a:t> A framework is code </a:t>
            </a:r>
            <a:r>
              <a:rPr i="1"/>
              <a:t>someone else wrote</a:t>
            </a:r>
            <a:r>
              <a:rPr/>
              <a:t> that handles all the hard, repetitive parts of building a server.</a:t>
            </a:r>
          </a:p>
          <a:p>
            <a:pPr lvl="0"/>
            <a:r>
              <a:rPr b="1"/>
              <a:t>Flask is a “micro-framework” that does two key things for us:</a:t>
            </a:r>
          </a:p>
          <a:p>
            <a:pPr lvl="1" indent="-342900" marL="685800">
              <a:buAutoNum type="arabicPeriod"/>
            </a:pPr>
            <a:r>
              <a:rPr/>
              <a:t>It runs a simple web server that listens for HTTP requests.</a:t>
            </a:r>
          </a:p>
          <a:p>
            <a:pPr lvl="1" indent="-342900" marL="685800">
              <a:buAutoNum type="arabicPeriod"/>
            </a:pPr>
            <a:r>
              <a:rPr/>
              <a:t>It provides a way to </a:t>
            </a:r>
            <a:r>
              <a:rPr b="1"/>
              <a:t>route</a:t>
            </a:r>
            <a:r>
              <a:rPr/>
              <a:t> a request (like </a:t>
            </a:r>
            <a:r>
              <a:rPr>
                <a:latin typeface="Courier"/>
              </a:rPr>
              <a:t>GET /jokes</a:t>
            </a:r>
            <a:r>
              <a:rPr/>
              <a:t>) to a specific </a:t>
            </a:r>
            <a:r>
              <a:rPr b="1"/>
              <a:t>Python function</a:t>
            </a:r>
            <a:r>
              <a:rPr/>
              <a:t> you write.</a:t>
            </a:r>
          </a:p>
          <a:p>
            <a:pPr lvl="0"/>
            <a:r>
              <a:rPr/>
              <a:t>This lets you stop worrying about HTTP and start focusing on your application’s </a:t>
            </a:r>
            <a:r>
              <a:rPr i="1"/>
              <a:t>logic</a:t>
            </a:r>
            <a: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11: The Code: </a:t>
            </a:r>
            <a:r>
              <a:rPr>
                <a:latin typeface="Courier"/>
              </a:rPr>
              <a:t>app.py</a:t>
            </a:r>
            <a:r>
              <a:rPr/>
              <a:t> Starter Kit</a:t>
            </a:r>
          </a:p>
        </p:txBody>
      </p:sp>
      <p:sp>
        <p:nvSpPr>
          <p:cNvPr id="3" name="Content Placeholder 2"/>
          <p:cNvSpPr>
            <a:spLocks noGrp="1"/>
          </p:cNvSpPr>
          <p:nvPr>
            <p:ph idx="1"/>
          </p:nvPr>
        </p:nvSpPr>
        <p:spPr/>
        <p:txBody>
          <a:bodyPr/>
          <a:lstStyle/>
          <a:p>
            <a:pPr lvl="0"/>
            <a:r>
              <a:rPr b="1"/>
              <a:t>Key Point:</a:t>
            </a:r>
            <a:r>
              <a:rPr/>
              <a:t> This is our entire “Hello World” application.</a:t>
            </a:r>
          </a:p>
          <a:p>
            <a:pPr lvl="0"/>
            <a:r>
              <a:rPr b="1"/>
              <a:t>Code Example:</a:t>
            </a:r>
          </a:p>
          <a:p>
            <a:pPr lvl="0" indent="0">
              <a:buNone/>
            </a:pPr>
            <a:r>
              <a:rPr b="1">
                <a:solidFill>
                  <a:srgbClr val="008000"/>
                </a:solidFill>
                <a:latin typeface="Courier"/>
              </a:rPr>
              <a:t>from</a:t>
            </a:r>
            <a:r>
              <a:rPr>
                <a:latin typeface="Courier"/>
              </a:rPr>
              <a:t> flask </a:t>
            </a:r>
            <a:r>
              <a:rPr b="1">
                <a:solidFill>
                  <a:srgbClr val="008000"/>
                </a:solidFill>
                <a:latin typeface="Courier"/>
              </a:rPr>
              <a:t>import</a:t>
            </a:r>
            <a:r>
              <a:rPr>
                <a:latin typeface="Courier"/>
              </a:rPr>
              <a:t> Flask</a:t>
            </a:r>
            <a:br/>
            <a:br/>
            <a:r>
              <a:rPr i="1">
                <a:solidFill>
                  <a:srgbClr val="60A0B0"/>
                </a:solidFill>
                <a:latin typeface="Courier"/>
              </a:rPr>
              <a:t># 1. Create the application instance</a:t>
            </a:r>
            <a:br/>
            <a:r>
              <a:rPr>
                <a:latin typeface="Courier"/>
              </a:rPr>
              <a:t>app </a:t>
            </a:r>
            <a:r>
              <a:rPr>
                <a:solidFill>
                  <a:srgbClr val="666666"/>
                </a:solidFill>
                <a:latin typeface="Courier"/>
              </a:rPr>
              <a:t>=</a:t>
            </a:r>
            <a:r>
              <a:rPr>
                <a:latin typeface="Courier"/>
              </a:rPr>
              <a:t> Flask(</a:t>
            </a:r>
            <a:r>
              <a:rPr>
                <a:solidFill>
                  <a:srgbClr val="19177C"/>
                </a:solidFill>
                <a:latin typeface="Courier"/>
              </a:rPr>
              <a:t>__name__</a:t>
            </a:r>
            <a:r>
              <a:rPr>
                <a:latin typeface="Courier"/>
              </a:rPr>
              <a:t>)</a:t>
            </a:r>
            <a:br/>
            <a:br/>
            <a:r>
              <a:rPr i="1">
                <a:solidFill>
                  <a:srgbClr val="60A0B0"/>
                </a:solidFill>
                <a:latin typeface="Courier"/>
              </a:rPr>
              <a:t># 2. This is the "route"</a:t>
            </a:r>
            <a:br/>
            <a:r>
              <a:rPr i="1">
                <a:solidFill>
                  <a:srgbClr val="60A0B0"/>
                </a:solidFill>
                <a:latin typeface="Courier"/>
              </a:rPr>
              <a:t># It maps the URL "/" to the function below it</a:t>
            </a:r>
            <a:br/>
            <a:r>
              <a:rPr>
                <a:solidFill>
                  <a:srgbClr val="7D9029"/>
                </a:solidFill>
                <a:latin typeface="Courier"/>
              </a:rPr>
              <a:t>@app.route</a:t>
            </a:r>
            <a:r>
              <a:rPr>
                <a:latin typeface="Courier"/>
              </a:rPr>
              <a:t>(</a:t>
            </a:r>
            <a:r>
              <a:rPr>
                <a:solidFill>
                  <a:srgbClr val="4070A0"/>
                </a:solidFill>
                <a:latin typeface="Courier"/>
              </a:rPr>
              <a:t>'/'</a:t>
            </a:r>
            <a:r>
              <a:rPr>
                <a:latin typeface="Courier"/>
              </a:rPr>
              <a:t>)</a:t>
            </a:r>
            <a:br/>
            <a:r>
              <a:rPr b="1">
                <a:solidFill>
                  <a:srgbClr val="007020"/>
                </a:solidFill>
                <a:latin typeface="Courier"/>
              </a:rPr>
              <a:t>def</a:t>
            </a:r>
            <a:r>
              <a:rPr>
                <a:latin typeface="Courier"/>
              </a:rPr>
              <a:t> hello_world():</a:t>
            </a:r>
            <a:br/>
            <a:r>
              <a:rPr>
                <a:latin typeface="Courier"/>
              </a:rPr>
              <a:t>    </a:t>
            </a:r>
            <a:r>
              <a:rPr i="1">
                <a:solidFill>
                  <a:srgbClr val="60A0B0"/>
                </a:solidFill>
                <a:latin typeface="Courier"/>
              </a:rPr>
              <a:t># 3. This is the "response"</a:t>
            </a:r>
            <a:br/>
            <a:r>
              <a:rPr>
                <a:latin typeface="Courier"/>
              </a:rPr>
              <a:t>    </a:t>
            </a:r>
            <a:r>
              <a:rPr b="1">
                <a:solidFill>
                  <a:srgbClr val="007020"/>
                </a:solidFill>
                <a:latin typeface="Courier"/>
              </a:rPr>
              <a:t>return</a:t>
            </a:r>
            <a:r>
              <a:rPr>
                <a:latin typeface="Courier"/>
              </a:rPr>
              <a:t> </a:t>
            </a:r>
            <a:r>
              <a:rPr>
                <a:solidFill>
                  <a:srgbClr val="4070A0"/>
                </a:solidFill>
                <a:latin typeface="Courier"/>
              </a:rPr>
              <a:t>'Hello, World!'</a:t>
            </a:r>
            <a:br/>
            <a:br/>
            <a:r>
              <a:rPr i="1">
                <a:solidFill>
                  <a:srgbClr val="60A0B0"/>
                </a:solidFill>
                <a:latin typeface="Courier"/>
              </a:rPr>
              <a:t># 4. This runs the server</a:t>
            </a:r>
            <a:br/>
            <a:r>
              <a:rPr b="1">
                <a:solidFill>
                  <a:srgbClr val="007020"/>
                </a:solidFill>
                <a:latin typeface="Courier"/>
              </a:rPr>
              <a:t>if</a:t>
            </a:r>
            <a:r>
              <a:rPr>
                <a:latin typeface="Courier"/>
              </a:rPr>
              <a:t> </a:t>
            </a:r>
            <a:r>
              <a:rPr>
                <a:solidFill>
                  <a:srgbClr val="19177C"/>
                </a:solidFill>
                <a:latin typeface="Courier"/>
              </a:rPr>
              <a:t>__name__</a:t>
            </a:r>
            <a:r>
              <a:rPr>
                <a:latin typeface="Courier"/>
              </a:rPr>
              <a:t> </a:t>
            </a:r>
            <a:r>
              <a:rPr>
                <a:solidFill>
                  <a:srgbClr val="666666"/>
                </a:solidFill>
                <a:latin typeface="Courier"/>
              </a:rPr>
              <a:t>==</a:t>
            </a:r>
            <a:r>
              <a:rPr>
                <a:latin typeface="Courier"/>
              </a:rPr>
              <a:t> </a:t>
            </a:r>
            <a:r>
              <a:rPr>
                <a:solidFill>
                  <a:srgbClr val="4070A0"/>
                </a:solidFill>
                <a:latin typeface="Courier"/>
              </a:rPr>
              <a:t>'__main__'</a:t>
            </a:r>
            <a:r>
              <a:rPr>
                <a:latin typeface="Courier"/>
              </a:rPr>
              <a:t>:</a:t>
            </a:r>
            <a:br/>
            <a:r>
              <a:rPr>
                <a:latin typeface="Courier"/>
              </a:rPr>
              <a:t>    app.run(debug</a:t>
            </a:r>
            <a:r>
              <a:rPr>
                <a:solidFill>
                  <a:srgbClr val="666666"/>
                </a:solidFill>
                <a:latin typeface="Courier"/>
              </a:rPr>
              <a:t>=</a:t>
            </a:r>
            <a:r>
              <a:rPr>
                <a:solidFill>
                  <a:srgbClr val="19177C"/>
                </a:solidFill>
                <a:latin typeface="Courier"/>
              </a:rPr>
              <a:t>True</a:t>
            </a:r>
            <a:r>
              <a:rPr>
                <a:latin typeface="Courier"/>
              </a:rPr>
              <a:t>)</a:t>
            </a:r>
          </a:p>
          <a:p>
            <a:pPr lvl="0"/>
            <a:r>
              <a:rPr/>
              <a:t>Speaker Note: Point out the </a:t>
            </a:r>
            <a:r>
              <a:rPr>
                <a:latin typeface="Courier"/>
              </a:rPr>
              <a:t>@app.route('/')</a:t>
            </a:r>
            <a:r>
              <a:rPr/>
              <a:t> decorator. This is the “magic” that connects a URL to a Python function.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12: Instructor Demo: The Debugging Workflow</a:t>
            </a:r>
          </a:p>
        </p:txBody>
      </p:sp>
      <p:sp>
        <p:nvSpPr>
          <p:cNvPr id="3" name="Content Placeholder 2"/>
          <p:cNvSpPr>
            <a:spLocks noGrp="1"/>
          </p:cNvSpPr>
          <p:nvPr>
            <p:ph idx="1"/>
          </p:nvPr>
        </p:nvSpPr>
        <p:spPr/>
        <p:txBody>
          <a:bodyPr/>
          <a:lstStyle/>
          <a:p>
            <a:pPr lvl="0"/>
            <a:r>
              <a:rPr b="1"/>
              <a:t>Key Point:</a:t>
            </a:r>
            <a:r>
              <a:rPr/>
              <a:t> The </a:t>
            </a:r>
            <a:r>
              <a:rPr>
                <a:latin typeface="Courier"/>
              </a:rPr>
              <a:t>debug=True</a:t>
            </a:r>
            <a:r>
              <a:rPr/>
              <a:t> flag is your most important tool.</a:t>
            </a:r>
          </a:p>
          <a:p>
            <a:pPr lvl="0"/>
            <a:r>
              <a:rPr/>
              <a:t>I will now demo the </a:t>
            </a:r>
            <a:r>
              <a:rPr b="1"/>
              <a:t>three</a:t>
            </a:r>
            <a:r>
              <a:rPr/>
              <a:t> key features of the built-in server.</a:t>
            </a:r>
          </a:p>
          <a:p>
            <a:pPr lvl="0"/>
            <a:r>
              <a:rPr b="1"/>
              <a:t>1. The Command:</a:t>
            </a:r>
          </a:p>
          <a:p>
            <a:pPr lvl="1" indent="0">
              <a:buNone/>
            </a:pPr>
            <a:r>
              <a:rPr i="1">
                <a:solidFill>
                  <a:srgbClr val="60A0B0"/>
                </a:solidFill>
                <a:latin typeface="Courier"/>
              </a:rPr>
              <a:t># This is the modern way to run Flask</a:t>
            </a:r>
            <a:br/>
            <a:r>
              <a:rPr>
                <a:latin typeface="Courier"/>
              </a:rPr>
              <a:t>flask </a:t>
            </a:r>
            <a:r>
              <a:rPr>
                <a:solidFill>
                  <a:srgbClr val="7D9029"/>
                </a:solidFill>
                <a:latin typeface="Courier"/>
              </a:rPr>
              <a:t>--app</a:t>
            </a:r>
            <a:r>
              <a:rPr>
                <a:latin typeface="Courier"/>
              </a:rPr>
              <a:t> app run </a:t>
            </a:r>
            <a:r>
              <a:rPr>
                <a:solidFill>
                  <a:srgbClr val="7D9029"/>
                </a:solidFill>
                <a:latin typeface="Courier"/>
              </a:rPr>
              <a:t>--debug</a:t>
            </a:r>
          </a:p>
          <a:p>
            <a:pPr lvl="0"/>
            <a:r>
              <a:rPr b="1"/>
              <a:t>2. The Auto-Reloader:</a:t>
            </a:r>
          </a:p>
          <a:p>
            <a:pPr lvl="1"/>
            <a:r>
              <a:rPr/>
              <a:t>I will change the “Hello, World!” string, save the file, and the server will restart automatically.</a:t>
            </a:r>
          </a:p>
          <a:p>
            <a:pPr lvl="0"/>
            <a:r>
              <a:rPr b="1"/>
              <a:t>3. The Interactive Debugger:</a:t>
            </a:r>
          </a:p>
          <a:p>
            <a:pPr lvl="1"/>
            <a:r>
              <a:rPr/>
              <a:t>I will add a </a:t>
            </a:r>
            <a:r>
              <a:rPr>
                <a:latin typeface="Courier"/>
              </a:rPr>
              <a:t>1/0</a:t>
            </a:r>
            <a:r>
              <a:rPr/>
              <a:t> (ZeroDivisionError) to the code.</a:t>
            </a:r>
          </a:p>
          <a:p>
            <a:pPr lvl="1"/>
            <a:r>
              <a:rPr/>
              <a:t>When I refresh the browser, we will see a </a:t>
            </a:r>
            <a:r>
              <a:rPr b="1"/>
              <a:t>live, in-browser console</a:t>
            </a:r>
            <a:r>
              <a:rPr/>
              <a:t> that lets us inspect the code at the moment of the crash.</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13: Your Turn: ICE 1 Workshop</a:t>
            </a:r>
          </a:p>
        </p:txBody>
      </p:sp>
      <p:sp>
        <p:nvSpPr>
          <p:cNvPr id="3" name="Content Placeholder 2"/>
          <p:cNvSpPr>
            <a:spLocks noGrp="1"/>
          </p:cNvSpPr>
          <p:nvPr>
            <p:ph idx="1"/>
          </p:nvPr>
        </p:nvSpPr>
        <p:spPr/>
        <p:txBody>
          <a:bodyPr/>
          <a:lstStyle/>
          <a:p>
            <a:pPr lvl="0"/>
            <a:r>
              <a:rPr b="1"/>
              <a:t>Key Point:</a:t>
            </a:r>
            <a:r>
              <a:rPr/>
              <a:t> Founding the Ministry!</a:t>
            </a:r>
          </a:p>
          <a:p>
            <a:pPr lvl="0"/>
            <a:r>
              <a:rPr b="1"/>
              <a:t>Task:</a:t>
            </a:r>
            <a:r>
              <a:rPr/>
              <a:t> Your first official act is to charter the Ministry of Jokes. You will requisition your team’s repository, establish proper branch protocols (no silly walks!), and hang your “Hello, World!” shingle (a simple Flask app) on the new office.</a:t>
            </a:r>
          </a:p>
          <a:p>
            <a:pPr lvl="0"/>
            <a:r>
              <a:rPr b="1"/>
              <a:t>The Goal:</a:t>
            </a:r>
          </a:p>
          <a:p>
            <a:pPr lvl="1" indent="-342900" marL="685800">
              <a:buAutoNum type="arabicPeriod"/>
            </a:pPr>
            <a:r>
              <a:rPr/>
              <a:t>Your team’s goal is </a:t>
            </a:r>
            <a:r>
              <a:rPr b="1"/>
              <a:t>NOT</a:t>
            </a:r>
            <a:r>
              <a:rPr/>
              <a:t> to finish. The goal is to get </a:t>
            </a:r>
            <a:r>
              <a:rPr b="1"/>
              <a:t>EVERYONE</a:t>
            </a:r>
            <a:r>
              <a:rPr/>
              <a:t> “un-blocked” and operational </a:t>
            </a:r>
            <a:r>
              <a:rPr i="1"/>
              <a:t>while the TAs are here to help.</a:t>
            </a:r>
          </a:p>
          <a:p>
            <a:pPr lvl="1" indent="-342900" marL="685800">
              <a:buAutoNum type="arabicPeriod"/>
            </a:pPr>
            <a:r>
              <a:rPr/>
              <a:t>Create your team’s </a:t>
            </a:r>
            <a:r>
              <a:rPr>
                <a:latin typeface="Courier"/>
              </a:rPr>
              <a:t>moj-team-name</a:t>
            </a:r>
            <a:r>
              <a:rPr/>
              <a:t> repository from the </a:t>
            </a:r>
            <a:r>
              <a:rPr>
                <a:latin typeface="Courier"/>
              </a:rPr>
              <a:t>moj_starter_kit</a:t>
            </a:r>
            <a:r>
              <a:rPr/>
              <a:t>.</a:t>
            </a:r>
          </a:p>
          <a:p>
            <a:pPr lvl="1" indent="-342900" marL="685800">
              <a:buAutoNum type="arabicPeriod"/>
            </a:pPr>
            <a:r>
              <a:rPr/>
              <a:t>Set up your main branch and CONTRIBUTIONS.md file.</a:t>
            </a:r>
          </a:p>
          <a:p>
            <a:pPr lvl="0"/>
            <a:r>
              <a:rPr b="1"/>
              <a:t>The Due Date:</a:t>
            </a:r>
            <a:r>
              <a:rPr/>
              <a:t> The final deliverable (the PR) is due at </a:t>
            </a:r>
            <a:r>
              <a:rPr b="1"/>
              <a:t>11:59 PM tonight.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14: ICE 1: Core Workshop Goals</a:t>
            </a:r>
          </a:p>
        </p:txBody>
      </p:sp>
      <p:sp>
        <p:nvSpPr>
          <p:cNvPr id="3" name="Content Placeholder 2"/>
          <p:cNvSpPr>
            <a:spLocks noGrp="1"/>
          </p:cNvSpPr>
          <p:nvPr>
            <p:ph idx="1"/>
          </p:nvPr>
        </p:nvSpPr>
        <p:spPr/>
        <p:txBody>
          <a:bodyPr/>
          <a:lstStyle/>
          <a:p>
            <a:pPr lvl="0"/>
            <a:r>
              <a:rPr b="1"/>
              <a:t>Your team must complete these in class:</a:t>
            </a:r>
          </a:p>
          <a:p>
            <a:pPr lvl="1" indent="-342900" marL="685800">
              <a:buAutoNum type="arabicPeriod"/>
            </a:pPr>
            <a:r>
              <a:rPr b="1"/>
              <a:t>Repo:</a:t>
            </a:r>
            <a:r>
              <a:rPr/>
              <a:t> Create your </a:t>
            </a:r>
            <a:r>
              <a:rPr>
                <a:latin typeface="Courier"/>
              </a:rPr>
              <a:t>private</a:t>
            </a:r>
            <a:r>
              <a:rPr/>
              <a:t> repo on </a:t>
            </a:r>
            <a:r>
              <a:rPr>
                <a:latin typeface="Courier"/>
              </a:rPr>
              <a:t>github.iu.edu</a:t>
            </a:r>
            <a:r>
              <a:rPr/>
              <a:t> and add all collaborators (team, TA, instructor).</a:t>
            </a:r>
          </a:p>
          <a:p>
            <a:pPr lvl="1" indent="-342900" marL="685800">
              <a:buAutoNum type="arabicPeriod"/>
            </a:pPr>
            <a:r>
              <a:rPr b="1"/>
              <a:t>Local Setup (Everyone):</a:t>
            </a:r>
            <a:r>
              <a:rPr/>
              <a:t> Everyone must </a:t>
            </a:r>
            <a:r>
              <a:rPr>
                <a:latin typeface="Courier"/>
              </a:rPr>
              <a:t>git clone</a:t>
            </a:r>
            <a:r>
              <a:rPr/>
              <a:t> (using SSH), create the </a:t>
            </a:r>
            <a:r>
              <a:rPr>
                <a:latin typeface="Courier"/>
              </a:rPr>
              <a:t>venv</a:t>
            </a:r>
            <a:r>
              <a:rPr/>
              <a:t>, </a:t>
            </a:r>
            <a:r>
              <a:rPr>
                <a:latin typeface="Courier"/>
              </a:rPr>
              <a:t>pip install</a:t>
            </a:r>
            <a:r>
              <a:rPr/>
              <a:t>, and successfully run </a:t>
            </a:r>
            <a:r>
              <a:rPr>
                <a:latin typeface="Courier"/>
              </a:rPr>
              <a:t>flask --app app run --debug</a:t>
            </a:r>
            <a:r>
              <a:rPr/>
              <a:t>.</a:t>
            </a:r>
          </a:p>
          <a:p>
            <a:pPr lvl="1" indent="-342900" marL="685800">
              <a:buAutoNum type="arabicPeriod"/>
            </a:pPr>
            <a:r>
              <a:rPr b="1"/>
              <a:t>Team Sync Test:</a:t>
            </a:r>
            <a:r>
              <a:rPr/>
              <a:t> One person will create, commit, and </a:t>
            </a:r>
            <a:r>
              <a:rPr>
                <a:latin typeface="Courier"/>
              </a:rPr>
              <a:t>push</a:t>
            </a:r>
            <a:r>
              <a:rPr/>
              <a:t> the </a:t>
            </a:r>
            <a:r>
              <a:rPr>
                <a:latin typeface="Courier"/>
              </a:rPr>
              <a:t>CONTRIBUTIONS.md</a:t>
            </a:r>
            <a:r>
              <a:rPr/>
              <a:t> file.</a:t>
            </a:r>
          </a:p>
          <a:p>
            <a:pPr lvl="1" indent="-342900" marL="685800">
              <a:buAutoNum type="arabicPeriod"/>
            </a:pPr>
            <a:r>
              <a:rPr b="1"/>
              <a:t>Team Sync Test:</a:t>
            </a:r>
            <a:r>
              <a:rPr/>
              <a:t> Everyone else </a:t>
            </a:r>
            <a:r>
              <a:rPr i="1"/>
              <a:t>must</a:t>
            </a:r>
            <a:r>
              <a:rPr/>
              <a:t> successfully </a:t>
            </a:r>
            <a:r>
              <a:rPr>
                <a:latin typeface="Courier"/>
              </a:rPr>
              <a:t>git pull</a:t>
            </a:r>
            <a:r>
              <a:rPr/>
              <a:t> that new file.</a:t>
            </a:r>
          </a:p>
          <a:p>
            <a:pPr lvl="0"/>
            <a:r>
              <a:rPr b="1"/>
              <a:t>If you get stuck on </a:t>
            </a:r>
            <a:r>
              <a:rPr b="1" i="1"/>
              <a:t>any</a:t>
            </a:r>
            <a:r>
              <a:rPr b="1"/>
              <a:t> step, call a TA!</a:t>
            </a:r>
            <a:r>
              <a:rPr/>
              <a:t> That is what we are here for.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15: Key Takeaways</a:t>
            </a:r>
          </a:p>
        </p:txBody>
      </p:sp>
      <p:sp>
        <p:nvSpPr>
          <p:cNvPr id="3" name="Content Placeholder 2"/>
          <p:cNvSpPr>
            <a:spLocks noGrp="1"/>
          </p:cNvSpPr>
          <p:nvPr>
            <p:ph idx="1"/>
          </p:nvPr>
        </p:nvSpPr>
        <p:spPr/>
        <p:txBody>
          <a:bodyPr/>
          <a:lstStyle/>
          <a:p>
            <a:pPr lvl="0"/>
            <a:r>
              <a:rPr/>
              <a:t>We are starting our “greenfield” Ministry of Jokes project, which will be a </a:t>
            </a:r>
            <a:r>
              <a:rPr b="1"/>
              <a:t>server</a:t>
            </a:r>
            <a:r>
              <a:rPr/>
              <a:t>.</a:t>
            </a:r>
          </a:p>
          <a:p>
            <a:pPr lvl="0"/>
            <a:r>
              <a:rPr/>
              <a:t>The web runs on a </a:t>
            </a:r>
            <a:r>
              <a:rPr b="1"/>
              <a:t>client-server</a:t>
            </a:r>
            <a:r>
              <a:rPr/>
              <a:t> model using the </a:t>
            </a:r>
            <a:r>
              <a:rPr b="1"/>
              <a:t>HTTP</a:t>
            </a:r>
            <a:r>
              <a:rPr/>
              <a:t> protocol.</a:t>
            </a:r>
          </a:p>
          <a:p>
            <a:pPr lvl="0"/>
            <a:r>
              <a:rPr b="1"/>
              <a:t>Flask</a:t>
            </a:r>
            <a:r>
              <a:rPr/>
              <a:t> is a framework that handles the hard parts of being a server and lets us map </a:t>
            </a:r>
            <a:r>
              <a:rPr b="1"/>
              <a:t>URLs</a:t>
            </a:r>
            <a:r>
              <a:rPr/>
              <a:t> (like </a:t>
            </a:r>
            <a:r>
              <a:rPr>
                <a:latin typeface="Courier"/>
              </a:rPr>
              <a:t>/</a:t>
            </a:r>
            <a:r>
              <a:rPr/>
              <a:t>) to our </a:t>
            </a:r>
            <a:r>
              <a:rPr b="1"/>
              <a:t>Python functions</a:t>
            </a:r>
            <a:r>
              <a:rPr/>
              <a:t>.</a:t>
            </a:r>
          </a:p>
          <a:p>
            <a:pPr lvl="0"/>
            <a:r>
              <a:rPr/>
              <a:t>The </a:t>
            </a:r>
            <a:r>
              <a:rPr>
                <a:latin typeface="Courier"/>
              </a:rPr>
              <a:t>debug=True</a:t>
            </a:r>
            <a:r>
              <a:rPr/>
              <a:t> flag gives us an </a:t>
            </a:r>
            <a:r>
              <a:rPr b="1"/>
              <a:t>auto-reloader</a:t>
            </a:r>
            <a:r>
              <a:rPr/>
              <a:t> and an </a:t>
            </a:r>
            <a:r>
              <a:rPr b="1"/>
              <a:t>interactive debugger</a:t>
            </a:r>
            <a: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Slide 16: Next Time</a:t>
            </a:r>
          </a:p>
        </p:txBody>
      </p:sp>
      <p:sp>
        <p:nvSpPr>
          <p:cNvPr id="3" name="Content Placeholder 2"/>
          <p:cNvSpPr>
            <a:spLocks noGrp="1"/>
          </p:cNvSpPr>
          <p:nvPr>
            <p:ph idx="1"/>
          </p:nvPr>
        </p:nvSpPr>
        <p:spPr/>
        <p:txBody>
          <a:bodyPr/>
          <a:lstStyle/>
          <a:p>
            <a:pPr lvl="0"/>
            <a:r>
              <a:rPr b="1"/>
              <a:t>Topic:</a:t>
            </a:r>
            <a:r>
              <a:rPr/>
              <a:t> Lecture 2: Continuous Integration (CI)</a:t>
            </a:r>
          </a:p>
          <a:p>
            <a:pPr lvl="0"/>
            <a:r>
              <a:rPr b="1"/>
              <a:t>Preview:</a:t>
            </a:r>
            <a:r>
              <a:rPr/>
              <a:t> Now that we have a (very simple) server, how do we automate the process of </a:t>
            </a:r>
            <a:r>
              <a:rPr i="1"/>
              <a:t>testing</a:t>
            </a:r>
            <a:r>
              <a:rPr/>
              <a:t> it every time we make a change?</a:t>
            </a:r>
          </a:p>
          <a:p>
            <a:pPr lvl="0"/>
            <a:r>
              <a:rPr/>
              <a:t>Speaker Notes: By the end of this week, you need to install and run the GitHub Self-Hosted Runner on your laptop. Lecture 2 (CI) and ICE 2 will not work without it. Since the university’s GitHub doesn’t have its own server runners, your laptop is the CI server. We will provide a step-by-step guide on Canvas. Your primary task between Lecture 1 and Lecture 2 is to get your personal runner ‘online’ and showing ‘idle’ in your team’s GitHub settings.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2025-10-19T14:53:34Z</dcterms:created>
  <dcterms:modified xsi:type="dcterms:W3CDTF">2025-10-19T14:53:34Z</dcterms:modified>
</cp:coreProperties>
</file>

<file path=docProps/custom.xml><?xml version="1.0" encoding="utf-8"?>
<Properties xmlns="http://schemas.openxmlformats.org/officeDocument/2006/custom-properties" xmlns:vt="http://schemas.openxmlformats.org/officeDocument/2006/docPropsVTypes"/>
</file>