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2: The “Silliness Detector” (CI/CR)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Topic:</a:t>
            </a:r>
            <a:r>
              <a:rPr/>
              <a:t> Lecture 2: The “Silliness Detector” (CI/CR)</a:t>
            </a:r>
          </a:p>
          <a:p>
            <a:pPr lvl="0"/>
            <a:r>
              <a:rPr b="1"/>
              <a:t>Course:</a:t>
            </a:r>
            <a:r>
              <a:rPr/>
              <a:t> Software Engineering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Learning Objectives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By the end of this lecture </a:t>
                </a:r>
                <a:r>
                  <a:rPr b="1"/>
                  <a:t>and workshop</a:t>
                </a:r>
                <a:r>
                  <a:rPr/>
                  <a:t>, you will be able to:</a:t>
                </a:r>
              </a:p>
              <a:p>
                <a:pPr lvl="0"/>
                <a:r>
                  <a:rPr b="1"/>
                  <a:t>Define</a:t>
                </a:r>
                <a:r>
                  <a:rPr/>
                  <a:t> Continuous Integration (CI) and its value as a “safety net.”</a:t>
                </a:r>
              </a:p>
              <a:p>
                <a:pPr lvl="0"/>
                <a:r>
                  <a:rPr b="1"/>
                  <a:t>Implement</a:t>
                </a:r>
                <a:r>
                  <a:rPr/>
                  <a:t> a basic CI pipeline to automate </a:t>
                </a:r>
                <a:r>
                  <a:rPr>
                    <a:latin typeface="Courier"/>
                  </a:rPr>
                  <a:t>pytest</a:t>
                </a:r>
                <a:r>
                  <a:rPr/>
                  <a:t>.</a:t>
                </a:r>
              </a:p>
              <a:p>
                <a:pPr lvl="0"/>
                <a:r>
                  <a:rPr b="1"/>
                  <a:t>Diagnose</a:t>
                </a:r>
                <a:r>
                  <a:rPr/>
                  <a:t> a failed build (a “Red X” ❌) by reading the workflow log.</a:t>
                </a:r>
              </a:p>
              <a:p>
                <a:pPr lvl="0"/>
                <a:r>
                  <a:rPr b="1"/>
                  <a:t>Practice</a:t>
                </a:r>
                <a:r>
                  <a:rPr/>
                  <a:t> the professional Code Review (CR) 🙅‍♂️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👍 workflow to manage a failed build.</a:t>
                </a:r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Bridging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Point:</a:t>
            </a:r>
            <a:r>
              <a:rPr/>
              <a:t> In Part 1 (</a:t>
            </a:r>
            <a:r>
              <a:rPr>
                <a:latin typeface="Courier"/>
              </a:rPr>
              <a:t>Angband</a:t>
            </a:r>
            <a:r>
              <a:rPr/>
              <a:t>), our testing was </a:t>
            </a:r>
            <a:r>
              <a:rPr b="1"/>
              <a:t>manual</a:t>
            </a:r>
            <a:r>
              <a:rPr/>
              <a:t>, </a:t>
            </a:r>
            <a:r>
              <a:rPr b="1"/>
              <a:t>local</a:t>
            </a:r>
            <a:r>
              <a:rPr/>
              <a:t>, and </a:t>
            </a:r>
            <a:r>
              <a:rPr b="1"/>
              <a:t>“hope-based.”</a:t>
            </a:r>
          </a:p>
          <a:p>
            <a:pPr lvl="0"/>
            <a:r>
              <a:rPr/>
              <a:t>You had to </a:t>
            </a:r>
            <a:r>
              <a:rPr i="1"/>
              <a:t>remember</a:t>
            </a:r>
            <a:r>
              <a:rPr/>
              <a:t> to run </a:t>
            </a:r>
            <a:r>
              <a:rPr>
                <a:latin typeface="Courier"/>
              </a:rPr>
              <a:t>make test</a:t>
            </a:r>
            <a:r>
              <a:rPr/>
              <a:t>. If you forgot, you could push broken code. This is slow and leads to the “it worked on my machine!” problem.</a:t>
            </a:r>
          </a:p>
          <a:p>
            <a:pPr lvl="0"/>
            <a:r>
              <a:rPr b="1"/>
              <a:t>Key Point:</a:t>
            </a:r>
            <a:r>
              <a:rPr/>
              <a:t> In Part 2 (</a:t>
            </a:r>
            <a:r>
              <a:rPr>
                <a:latin typeface="Courier"/>
              </a:rPr>
              <a:t>MoJ</a:t>
            </a:r>
            <a:r>
              <a:rPr/>
              <a:t>), our testing will be </a:t>
            </a:r>
            <a:r>
              <a:rPr b="1"/>
              <a:t>automated</a:t>
            </a:r>
            <a:r>
              <a:rPr/>
              <a:t>, </a:t>
            </a:r>
            <a:r>
              <a:rPr b="1"/>
              <a:t>remote</a:t>
            </a:r>
            <a:r>
              <a:rPr/>
              <a:t>, and </a:t>
            </a:r>
            <a:r>
              <a:rPr b="1"/>
              <a:t>“evidence-based.”</a:t>
            </a:r>
          </a:p>
          <a:p>
            <a:pPr lvl="0"/>
            <a:r>
              <a:rPr/>
              <a:t>Our engineering goal: </a:t>
            </a:r>
            <a:r>
              <a:rPr b="1"/>
              <a:t>Never merge broken code.</a:t>
            </a:r>
          </a:p>
          <a:p>
            <a:pPr lvl="0"/>
            <a:r>
              <a:rPr/>
              <a:t>Speaker Note: “Hands up, who </a:t>
            </a:r>
            <a:r>
              <a:rPr i="1"/>
              <a:t>forgot</a:t>
            </a:r>
            <a:r>
              <a:rPr/>
              <a:t> to run the tests at least once before pushing a change for Angband? This lecture is the solution to that exact feeling. We are moving from a </a:t>
            </a:r>
            <a:r>
              <a:rPr i="1"/>
              <a:t>hope-based</a:t>
            </a:r>
            <a:r>
              <a:rPr/>
              <a:t> model to an </a:t>
            </a:r>
            <a:r>
              <a:rPr i="1"/>
              <a:t>evidence-based</a:t>
            </a:r>
            <a:r>
              <a:rPr/>
              <a:t> one.”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What is Continuous Integration (CI)?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Point:</a:t>
            </a:r>
            <a:r>
              <a:rPr/>
              <a:t> CI is the </a:t>
            </a:r>
            <a:r>
              <a:rPr i="1"/>
              <a:t>practice</a:t>
            </a:r>
            <a:r>
              <a:rPr/>
              <a:t> of automating builds and tests </a:t>
            </a:r>
            <a:r>
              <a:rPr i="1"/>
              <a:t>on every single commit</a:t>
            </a:r>
            <a:r>
              <a:rPr/>
              <a:t> to get rapid, reliable feedback.</a:t>
            </a:r>
          </a:p>
          <a:p>
            <a:pPr lvl="0"/>
            <a:r>
              <a:rPr b="1"/>
              <a:t>Analogy:</a:t>
            </a:r>
            <a:r>
              <a:rPr/>
              <a:t> We are hiring a “robot” for our team.</a:t>
            </a:r>
          </a:p>
          <a:p>
            <a:pPr lvl="0"/>
            <a:r>
              <a:rPr/>
              <a:t>Its only job is to check everyone’s work, 24/7.</a:t>
            </a:r>
          </a:p>
          <a:p>
            <a:pPr lvl="0"/>
            <a:r>
              <a:rPr/>
              <a:t>For the “Ministry of Jokes,” we’ll call it our </a:t>
            </a:r>
            <a:r>
              <a:rPr b="1"/>
              <a:t>“Silliness Detector.”</a:t>
            </a:r>
          </a:p>
          <a:p>
            <a:pPr lvl="0"/>
            <a:r>
              <a:rPr/>
              <a:t>Speaker Note: “This robot is our first and most important source of </a:t>
            </a:r>
            <a:r>
              <a:rPr i="1"/>
              <a:t>quantitative evidence</a:t>
            </a:r>
            <a:r>
              <a:rPr/>
              <a:t> about our project’s health.”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The “Why”: CI as a Safety 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Point:</a:t>
            </a:r>
            <a:r>
              <a:rPr/>
              <a:t> CI builds </a:t>
            </a:r>
            <a:r>
              <a:rPr b="1"/>
              <a:t>team trust</a:t>
            </a:r>
            <a:r>
              <a:rPr/>
              <a:t> and provides </a:t>
            </a:r>
            <a:r>
              <a:rPr b="1"/>
              <a:t>evidence</a:t>
            </a:r>
            <a:r>
              <a:rPr/>
              <a:t>.</a:t>
            </a:r>
          </a:p>
          <a:p>
            <a:pPr lvl="0"/>
            <a:r>
              <a:rPr b="1"/>
              <a:t>Solves “It Worked on My Machine”:</a:t>
            </a:r>
            <a:r>
              <a:rPr/>
              <a:t> The CI pipeline is a clean, consistent environment. If it passes there, it </a:t>
            </a:r>
            <a:r>
              <a:rPr i="1"/>
              <a:t>really</a:t>
            </a:r>
            <a:r>
              <a:rPr/>
              <a:t> works.</a:t>
            </a:r>
          </a:p>
          <a:p>
            <a:pPr lvl="0"/>
            <a:r>
              <a:rPr b="1"/>
              <a:t>Finds Bugs in Seconds:</a:t>
            </a:r>
            <a:r>
              <a:rPr/>
              <a:t> You get feedback </a:t>
            </a:r>
            <a:r>
              <a:rPr i="1"/>
              <a:t>immediately</a:t>
            </a:r>
            <a:r>
              <a:rPr/>
              <a:t>, not days later from an angry teammate or user.</a:t>
            </a:r>
          </a:p>
          <a:p>
            <a:pPr lvl="0"/>
            <a:r>
              <a:rPr b="1"/>
              <a:t>Enables “Fearless Refactoring”:</a:t>
            </a:r>
            <a:r>
              <a:rPr/>
              <a:t> You can confidently make changes knowing the “Silliness Detector” will warn you if you break something.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The “How”: GitHub Actions (GHA)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Point:</a:t>
            </a:r>
            <a:r>
              <a:rPr/>
              <a:t> GHA is the </a:t>
            </a:r>
            <a:r>
              <a:rPr i="1"/>
              <a:t>tool</a:t>
            </a:r>
            <a:r>
              <a:rPr/>
              <a:t> (an event-driven system) we use to implement the </a:t>
            </a:r>
            <a:r>
              <a:rPr i="1"/>
              <a:t>practice</a:t>
            </a:r>
            <a:r>
              <a:rPr/>
              <a:t> (CI).</a:t>
            </a:r>
          </a:p>
          <a:p>
            <a:pPr lvl="0"/>
            <a:r>
              <a:rPr b="1"/>
              <a:t>Core Concepts:</a:t>
            </a:r>
          </a:p>
          <a:p>
            <a:pPr lvl="1"/>
            <a:r>
              <a:rPr b="1">
                <a:latin typeface="Courier"/>
              </a:rPr>
              <a:t>Event</a:t>
            </a:r>
            <a:r>
              <a:rPr/>
              <a:t>: A trigger (e.g., </a:t>
            </a:r>
            <a:r>
              <a:rPr>
                <a:latin typeface="Courier"/>
              </a:rPr>
              <a:t>git push</a:t>
            </a:r>
            <a:r>
              <a:rPr/>
              <a:t>).</a:t>
            </a:r>
          </a:p>
          <a:p>
            <a:pPr lvl="1"/>
            <a:r>
              <a:rPr b="1">
                <a:latin typeface="Courier"/>
              </a:rPr>
              <a:t>Workflow</a:t>
            </a:r>
            <a:r>
              <a:rPr/>
              <a:t>: The </a:t>
            </a:r>
            <a:r>
              <a:rPr>
                <a:latin typeface="Courier"/>
              </a:rPr>
              <a:t>.yml</a:t>
            </a:r>
            <a:r>
              <a:rPr/>
              <a:t> file with instructions (e.g., </a:t>
            </a:r>
            <a:r>
              <a:rPr>
                <a:latin typeface="Courier"/>
              </a:rPr>
              <a:t>main.yml</a:t>
            </a:r>
            <a:r>
              <a:rPr/>
              <a:t>).</a:t>
            </a:r>
          </a:p>
          <a:p>
            <a:pPr lvl="1"/>
            <a:r>
              <a:rPr b="1">
                <a:latin typeface="Courier"/>
              </a:rPr>
              <a:t>Job</a:t>
            </a:r>
            <a:r>
              <a:rPr/>
              <a:t>: A task for a runner (e.g., </a:t>
            </a:r>
            <a:r>
              <a:rPr>
                <a:latin typeface="Courier"/>
              </a:rPr>
              <a:t>build-and-test</a:t>
            </a:r>
            <a:r>
              <a:rPr/>
              <a:t>).</a:t>
            </a:r>
          </a:p>
          <a:p>
            <a:pPr lvl="1"/>
            <a:r>
              <a:rPr b="1">
                <a:latin typeface="Courier"/>
              </a:rPr>
              <a:t>Step</a:t>
            </a:r>
            <a:r>
              <a:rPr/>
              <a:t>: A single command (e.g., </a:t>
            </a:r>
            <a:r>
              <a:rPr>
                <a:latin typeface="Courier"/>
              </a:rPr>
              <a:t>run: pytest</a:t>
            </a:r>
            <a:r>
              <a:rPr/>
              <a:t>).</a:t>
            </a:r>
          </a:p>
          <a:p>
            <a:pPr lvl="0"/>
            <a:r>
              <a:rPr/>
              <a:t>Speaker Note: “Don’t memorize this. The </a:t>
            </a:r>
            <a:r>
              <a:rPr>
                <a:latin typeface="Courier"/>
              </a:rPr>
              <a:t>.yml</a:t>
            </a:r>
            <a:r>
              <a:rPr/>
              <a:t> file is just the instruction manual for the robot. We are learning this by </a:t>
            </a:r>
            <a:r>
              <a:rPr i="1"/>
              <a:t>doing</a:t>
            </a:r>
            <a:r>
              <a:rPr/>
              <a:t> it in the workshop.”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Critical Prerequisite: </a:t>
            </a:r>
            <a:r>
              <a:rPr>
                <a:latin typeface="Courier"/>
              </a:rPr>
              <a:t>self-hosted</a:t>
            </a:r>
            <a:r>
              <a:rPr/>
              <a:t> Runners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Point:</a:t>
            </a:r>
            <a:r>
              <a:rPr/>
              <a:t> </a:t>
            </a:r>
            <a:r>
              <a:rPr>
                <a:latin typeface="Courier"/>
              </a:rPr>
              <a:t>github.iu.edu</a:t>
            </a:r>
            <a:r>
              <a:rPr/>
              <a:t> (our private GitHub) cannot run jobs itself. It needs a “worker” machine.</a:t>
            </a:r>
          </a:p>
          <a:p>
            <a:pPr lvl="0"/>
            <a:r>
              <a:rPr/>
              <a:t>Your </a:t>
            </a:r>
            <a:r>
              <a:rPr b="1"/>
              <a:t>“Week 9 ICE Prep”</a:t>
            </a:r>
            <a:r>
              <a:rPr/>
              <a:t> assignment configured your laptop as that worker.</a:t>
            </a:r>
          </a:p>
          <a:p>
            <a:pPr lvl="0"/>
            <a:r>
              <a:rPr b="1"/>
              <a:t>ACTION REQUIRED:</a:t>
            </a:r>
            <a:r>
              <a:rPr/>
              <a:t> You </a:t>
            </a:r>
            <a:r>
              <a:rPr i="1"/>
              <a:t>must</a:t>
            </a:r>
            <a:r>
              <a:rPr/>
              <a:t> have your runner script (</a:t>
            </a:r>
            <a:r>
              <a:rPr>
                <a:latin typeface="Courier"/>
              </a:rPr>
              <a:t>./run.sh</a:t>
            </a:r>
            <a:r>
              <a:rPr/>
              <a:t> or </a:t>
            </a:r>
            <a:r>
              <a:rPr>
                <a:latin typeface="Courier"/>
              </a:rPr>
              <a:t>run.cmd</a:t>
            </a:r>
            <a:r>
              <a:rPr/>
              <a:t>) active </a:t>
            </a:r>
            <a:r>
              <a:rPr i="1"/>
              <a:t>right now</a:t>
            </a:r>
            <a:r>
              <a:rPr/>
              <a:t> for ICE 2 to work.</a:t>
            </a:r>
          </a:p>
          <a:p>
            <a:pPr lvl="0"/>
            <a:r>
              <a:rPr/>
              <a:t>Speaker Note: “This is the #1 blocker. Please open your terminal and start your runner </a:t>
            </a:r>
            <a:r>
              <a:rPr i="1"/>
              <a:t>now</a:t>
            </a:r>
            <a:r>
              <a:rPr/>
              <a:t>. If it’s not ‘Listening for Jobs’, your team will be blocked. Flag a TA immediately if you’re stuck.”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How to Diagnose a “Red X” 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Point:</a:t>
            </a:r>
            <a:r>
              <a:rPr/>
              <a:t> The Red X is </a:t>
            </a:r>
            <a:r>
              <a:rPr i="1"/>
              <a:t>feedback</a:t>
            </a:r>
            <a:r>
              <a:rPr/>
              <a:t>, not failure. It’s the </a:t>
            </a:r>
            <a:r>
              <a:rPr i="1"/>
              <a:t>start</a:t>
            </a:r>
            <a:r>
              <a:rPr/>
              <a:t> of the diagnostic process.</a:t>
            </a:r>
          </a:p>
          <a:p>
            <a:pPr lvl="0"/>
            <a:r>
              <a:rPr b="1"/>
              <a:t>The Workflow:</a:t>
            </a:r>
          </a:p>
          <a:p>
            <a:pPr lvl="1" indent="-342900" marL="685800">
              <a:buAutoNum type="arabicPeriod"/>
            </a:pPr>
            <a:r>
              <a:rPr/>
              <a:t>Find the </a:t>
            </a:r>
            <a:r>
              <a:rPr b="1"/>
              <a:t>Red X</a:t>
            </a:r>
            <a:r>
              <a:rPr/>
              <a:t> ❌ (on the PR or “Actions” tab).</a:t>
            </a:r>
          </a:p>
          <a:p>
            <a:pPr lvl="1" indent="-342900" marL="685800">
              <a:buAutoNum type="arabicPeriod"/>
            </a:pPr>
            <a:r>
              <a:rPr/>
              <a:t>Click </a:t>
            </a:r>
            <a:r>
              <a:rPr b="1"/>
              <a:t>“Details”</a:t>
            </a:r>
            <a:r>
              <a:rPr/>
              <a:t> to open the workflow run.</a:t>
            </a:r>
          </a:p>
          <a:p>
            <a:pPr lvl="1" indent="-342900" marL="685800">
              <a:buAutoNum type="arabicPeriod"/>
            </a:pPr>
            <a:r>
              <a:rPr/>
              <a:t>Click the failing </a:t>
            </a:r>
            <a:r>
              <a:rPr b="1"/>
              <a:t>Job</a:t>
            </a:r>
            <a:r>
              <a:rPr/>
              <a:t> (e.g., </a:t>
            </a:r>
            <a:r>
              <a:rPr>
                <a:latin typeface="Courier"/>
              </a:rPr>
              <a:t>build-and-test</a:t>
            </a:r>
            <a:r>
              <a:rPr/>
              <a:t>).</a:t>
            </a:r>
          </a:p>
          <a:p>
            <a:pPr lvl="1" indent="-342900" marL="685800">
              <a:buAutoNum type="arabicPeriod"/>
            </a:pPr>
            <a:r>
              <a:rPr/>
              <a:t>Find and </a:t>
            </a:r>
            <a:r>
              <a:rPr b="1"/>
              <a:t>expand</a:t>
            </a:r>
            <a:r>
              <a:rPr/>
              <a:t> the failing </a:t>
            </a:r>
            <a:r>
              <a:rPr b="1"/>
              <a:t>Step</a:t>
            </a:r>
            <a:r>
              <a:rPr/>
              <a:t> (e.g., </a:t>
            </a:r>
            <a:r>
              <a:rPr>
                <a:latin typeface="Courier"/>
              </a:rPr>
              <a:t>Run tests with pytest</a:t>
            </a:r>
            <a:r>
              <a:rPr/>
              <a:t>).</a:t>
            </a:r>
          </a:p>
          <a:p>
            <a:pPr lvl="1" indent="-342900" marL="685800">
              <a:buAutoNum type="arabicPeriod"/>
            </a:pPr>
            <a:r>
              <a:rPr/>
              <a:t>Read the error message at the bottom.</a:t>
            </a:r>
          </a:p>
          <a:p>
            <a:pPr lvl="0"/>
            <a:r>
              <a:rPr/>
              <a:t>Speaker Note: “This is the </a:t>
            </a:r>
            <a:r>
              <a:rPr i="1"/>
              <a:t>real</a:t>
            </a:r>
            <a:r>
              <a:rPr/>
              <a:t> skill of this exercise. In the ICE, you will </a:t>
            </a:r>
            <a:r>
              <a:rPr i="1"/>
              <a:t>intentionally</a:t>
            </a:r>
            <a:r>
              <a:rPr/>
              <a:t> cause a Red X. You will use </a:t>
            </a:r>
            <a:r>
              <a:rPr i="1"/>
              <a:t>this exact process</a:t>
            </a:r>
            <a:r>
              <a:rPr/>
              <a:t> to find the error.”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9: The </a:t>
            </a:r>
            <a:r>
              <a:rPr i="1"/>
              <a:t>Other</a:t>
            </a:r>
            <a:r>
              <a:rPr/>
              <a:t> Safety Net: Code Review (CR)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Point:</a:t>
            </a:r>
            <a:r>
              <a:rPr/>
              <a:t> CI is the </a:t>
            </a:r>
            <a:r>
              <a:rPr i="1"/>
              <a:t>robot</a:t>
            </a:r>
            <a:r>
              <a:rPr/>
              <a:t> check (“Is it safe?”). CR is the </a:t>
            </a:r>
            <a:r>
              <a:rPr i="1"/>
              <a:t>human</a:t>
            </a:r>
            <a:r>
              <a:rPr/>
              <a:t> check (“Is it a good idea?”). You need both.</a:t>
            </a:r>
          </a:p>
          <a:p>
            <a:pPr lvl="0"/>
            <a:r>
              <a:rPr b="1"/>
              <a:t>The Core Exchange:</a:t>
            </a:r>
          </a:p>
          <a:p>
            <a:pPr lvl="1"/>
            <a:r>
              <a:rPr b="1"/>
              <a:t>Author’s Goal:</a:t>
            </a:r>
            <a:r>
              <a:rPr/>
              <a:t> “I have a clean, tested, and valuable change.”</a:t>
            </a:r>
          </a:p>
          <a:p>
            <a:pPr lvl="1"/>
            <a:r>
              <a:rPr b="1"/>
              <a:t>Reviewer’s Goal:</a:t>
            </a:r>
            <a:r>
              <a:rPr/>
              <a:t> “I </a:t>
            </a:r>
            <a:r>
              <a:rPr i="1"/>
              <a:t>understand</a:t>
            </a:r>
            <a:r>
              <a:rPr/>
              <a:t> this change, and I </a:t>
            </a:r>
            <a:r>
              <a:rPr i="1"/>
              <a:t>agree</a:t>
            </a:r>
            <a:r>
              <a:rPr/>
              <a:t> it’s safe and valuable.”</a:t>
            </a:r>
          </a:p>
          <a:p>
            <a:pPr lvl="0"/>
            <a:r>
              <a:rPr/>
              <a:t>Speaker Note: “As you do the Code Review part of ICE 2, here is your guidance. This is how you build a professional team culture:</a:t>
            </a:r>
          </a:p>
          <a:p>
            <a:pPr lvl="1" indent="-342900" marL="685800">
              <a:buAutoNum type="arabicPeriod"/>
            </a:pPr>
            <a:r>
              <a:rPr b="1"/>
              <a:t>Critique the code, not the coder.</a:t>
            </a:r>
            <a:r>
              <a:rPr/>
              <a:t> Never say ‘You made a mistake.’ Say, ‘This code has a bug.’</a:t>
            </a:r>
          </a:p>
          <a:p>
            <a:pPr lvl="1" indent="-342900" marL="685800">
              <a:buAutoNum type="arabicPeriod"/>
            </a:pPr>
            <a:r>
              <a:rPr b="1"/>
              <a:t>Ask questions, don’t give commands.</a:t>
            </a:r>
            <a:r>
              <a:rPr/>
              <a:t> Instead of ‘Fix this,’ ask, ‘What was the thinking here? I’m worried this might not handle the </a:t>
            </a:r>
            <a:r>
              <a:rPr>
                <a:latin typeface="Courier"/>
              </a:rPr>
              <a:t>None</a:t>
            </a:r>
            <a:r>
              <a:rPr/>
              <a:t> case.’</a:t>
            </a:r>
          </a:p>
          <a:p>
            <a:pPr lvl="1" indent="-342900" marL="685800">
              <a:buAutoNum type="arabicPeriod"/>
            </a:pPr>
            <a:r>
              <a:rPr b="1"/>
              <a:t>Automate the small stuff.</a:t>
            </a:r>
            <a:r>
              <a:rPr/>
              <a:t> A </a:t>
            </a:r>
            <a:r>
              <a:rPr i="1"/>
              <a:t>bad</a:t>
            </a:r>
            <a:r>
              <a:rPr/>
              <a:t> code review argues about commas or indentation. That’s a </a:t>
            </a:r>
            <a:r>
              <a:rPr i="1"/>
              <a:t>linter’s</a:t>
            </a:r>
            <a:r>
              <a:rPr/>
              <a:t> job, which we’ll add next week. A </a:t>
            </a:r>
            <a:r>
              <a:rPr i="1"/>
              <a:t>good</a:t>
            </a:r>
            <a:r>
              <a:rPr/>
              <a:t> code review talks about logic, risk, and design.”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10: Public Evidence: Status Badges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Point:</a:t>
            </a:r>
            <a:r>
              <a:rPr/>
              <a:t> A status badge is a live, public-facing sign of your team’s quality and professionalism.</a:t>
            </a:r>
          </a:p>
          <a:p>
            <a:pPr lvl="0"/>
            <a:r>
              <a:rPr/>
              <a:t>It’s a small image in your </a:t>
            </a:r>
            <a:r>
              <a:rPr>
                <a:latin typeface="Courier"/>
              </a:rPr>
              <a:t>README.md</a:t>
            </a:r>
            <a:r>
              <a:rPr/>
              <a:t> that automatically shows if your </a:t>
            </a:r>
            <a:r>
              <a:rPr>
                <a:latin typeface="Courier"/>
              </a:rPr>
              <a:t>main</a:t>
            </a:r>
            <a:r>
              <a:rPr/>
              <a:t> branch is “passing” (green) or “failing” (red).</a:t>
            </a:r>
          </a:p>
          <a:p>
            <a:pPr lvl="0"/>
            <a:r>
              <a:rPr b="1"/>
              <a:t>How:</a:t>
            </a:r>
            <a:r>
              <a:rPr/>
              <a:t> You can get the Markdown for this badge directly from your repository’s “Actions” tab.</a:t>
            </a:r>
          </a:p>
          <a:p>
            <a:pPr lvl="0"/>
            <a:r>
              <a:rPr/>
              <a:t>Speaker Note: “This aligns with our ‘evidence-based’ goal. It’s a live, quantitative metric of your team’s health that is visible to everyone. It’s a point of professional pride.”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11: Handoff to ICE 2 Workshop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Topic:</a:t>
                </a:r>
                <a:r>
                  <a:rPr/>
                  <a:t> The CI/CR “Fire Drill”</a:t>
                </a:r>
              </a:p>
              <a:p>
                <a:pPr lvl="0"/>
                <a:r>
                  <a:rPr b="1"/>
                  <a:t>Task:</a:t>
                </a:r>
                <a:r>
                  <a:rPr/>
                  <a:t> Time to build it, break it, and fix it—as a team.</a:t>
                </a:r>
              </a:p>
              <a:p>
                <a:pPr lvl="0"/>
                <a:r>
                  <a:rPr b="1"/>
                  <a:t>This is a 45-minute “macro-workshop.”</a:t>
                </a:r>
              </a:p>
              <a:p>
                <a:pPr lvl="0"/>
                <a:r>
                  <a:rPr b="1"/>
                  <a:t>Your Goal:</a:t>
                </a:r>
              </a:p>
              <a:p>
                <a:pPr lvl="1" indent="-342900" marL="685800">
                  <a:buAutoNum type="arabicPeriod"/>
                </a:pPr>
                <a:r>
                  <a:rPr/>
                  <a:t>Get a </a:t>
                </a:r>
                <a:r>
                  <a:rPr b="1"/>
                  <a:t>Green Check ✅</a:t>
                </a:r>
                <a:r>
                  <a:rPr/>
                  <a:t> (Prove it works).</a:t>
                </a:r>
              </a:p>
              <a:p>
                <a:pPr lvl="1" indent="-342900" marL="685800">
                  <a:buAutoNum type="arabicPeriod"/>
                </a:pPr>
                <a:r>
                  <a:rPr/>
                  <a:t>Get a </a:t>
                </a:r>
                <a:r>
                  <a:rPr b="1"/>
                  <a:t>Red X ❌</a:t>
                </a:r>
                <a:r>
                  <a:rPr/>
                  <a:t> (Prove it catches bugs).</a:t>
                </a:r>
              </a:p>
              <a:p>
                <a:pPr lvl="1" indent="-342900" marL="685800">
                  <a:buAutoNum type="arabicPeriod"/>
                </a:pPr>
                <a:r>
                  <a:rPr/>
                  <a:t>Practice the full Code Review </a:t>
                </a:r>
                <a:r>
                  <a:rPr b="1"/>
                  <a:t>🙅‍♂️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 b="1"/>
                  <a:t> 👍</a:t>
                </a:r>
                <a:r>
                  <a:rPr/>
                  <a:t> loop (Prove your </a:t>
                </a:r>
                <a:r>
                  <a:rPr i="1"/>
                  <a:t>process</a:t>
                </a:r>
                <a:r>
                  <a:rPr/>
                  <a:t> works).</a:t>
                </a:r>
              </a:p>
              <a:p>
                <a:pPr lvl="0"/>
                <a:r>
                  <a:rPr/>
                  <a:t>Speaker Note: “This is the main event for today. The goal is </a:t>
                </a:r>
                <a:r>
                  <a:rPr i="1"/>
                  <a:t>not speed</a:t>
                </a:r>
                <a:r>
                  <a:rPr/>
                  <a:t>, it’s </a:t>
                </a:r>
                <a:r>
                  <a:rPr i="1"/>
                  <a:t>accuracy</a:t>
                </a:r>
                <a:r>
                  <a:rPr/>
                  <a:t> and </a:t>
                </a:r>
                <a:r>
                  <a:rPr i="1"/>
                  <a:t>communication</a:t>
                </a:r>
                <a:r>
                  <a:rPr/>
                  <a:t>. We are validating our </a:t>
                </a:r>
                <a:r>
                  <a:rPr i="1"/>
                  <a:t>process</a:t>
                </a:r>
                <a:r>
                  <a:rPr/>
                  <a:t> in-class to de-risk your individual homework.”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i="1"/>
              <a:t>(This slide is shown </a:t>
            </a:r>
            <a:r>
              <a:rPr/>
              <a:t>after* the 45-minute ICE, at the end of the 75-minute class.)*</a:t>
            </a:r>
          </a:p>
          <a:p>
            <a:pPr lvl="0"/>
            <a:r>
              <a:rPr b="1"/>
              <a:t>CI</a:t>
            </a:r>
            <a:r>
              <a:rPr/>
              <a:t> is the </a:t>
            </a:r>
            <a:r>
              <a:rPr i="1"/>
              <a:t>practice</a:t>
            </a:r>
            <a:r>
              <a:rPr/>
              <a:t> of automating tests; </a:t>
            </a:r>
            <a:r>
              <a:rPr b="1"/>
              <a:t>GHA</a:t>
            </a:r>
            <a:r>
              <a:rPr/>
              <a:t> is the </a:t>
            </a:r>
            <a:r>
              <a:rPr i="1"/>
              <a:t>tool</a:t>
            </a:r>
            <a:r>
              <a:rPr/>
              <a:t>.</a:t>
            </a:r>
          </a:p>
          <a:p>
            <a:pPr lvl="0"/>
            <a:r>
              <a:rPr/>
              <a:t>The </a:t>
            </a:r>
            <a:r>
              <a:rPr b="1"/>
              <a:t>“Red X”</a:t>
            </a:r>
            <a:r>
              <a:rPr/>
              <a:t> is the </a:t>
            </a:r>
            <a:r>
              <a:rPr i="1"/>
              <a:t>start</a:t>
            </a:r>
            <a:r>
              <a:rPr/>
              <a:t> of the diagnostic process, not the end.</a:t>
            </a:r>
          </a:p>
          <a:p>
            <a:pPr lvl="0"/>
            <a:r>
              <a:rPr b="1"/>
              <a:t>CI (robot) + CR (human)</a:t>
            </a:r>
            <a:r>
              <a:rPr/>
              <a:t> are the two safety nets of a professional team.</a:t>
            </a:r>
          </a:p>
          <a:p>
            <a:pPr lvl="0"/>
            <a:r>
              <a:rPr b="1"/>
              <a:t>Status Badges</a:t>
            </a:r>
            <a:r>
              <a:rPr/>
              <a:t> are the public-facing </a:t>
            </a:r>
            <a:r>
              <a:rPr i="1"/>
              <a:t>evidence</a:t>
            </a:r>
            <a:r>
              <a:rPr/>
              <a:t> of your automated quality.</a:t>
            </a:r>
          </a:p>
          <a:p>
            <a:pPr lvl="0"/>
            <a:r>
              <a:rPr/>
              <a:t>Speaker Note: “Great job on the fire drill. You’ve now all seen a failed build, diagnosed it, and used the professional CR process to manage it. Your homework is to do this </a:t>
            </a:r>
            <a:r>
              <a:rPr i="1"/>
              <a:t>individually</a:t>
            </a:r>
            <a:r>
              <a:rPr/>
              <a:t>, and the </a:t>
            </a:r>
            <a:r>
              <a:rPr>
                <a:latin typeface="Courier"/>
              </a:rPr>
              <a:t>CONTRIBUTIONS.md</a:t>
            </a:r>
            <a:r>
              <a:rPr/>
              <a:t> log explains how.”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2025-10-21T22:24:37Z</dcterms:created>
  <dcterms:modified xsi:type="dcterms:W3CDTF">2025-10-21T22:24:37Z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