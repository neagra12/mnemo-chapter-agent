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8" Type="http://schemas.openxmlformats.org/officeDocument/2006/relationships/viewProps" Target="viewProps.xml" /><Relationship Id="rId1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0" Type="http://schemas.openxmlformats.org/officeDocument/2006/relationships/tableStyles" Target="tableStyles.xml" /><Relationship Id="rId1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2: Continuous Integration (CI)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1: 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Topic:</a:t>
            </a:r>
            <a:r>
              <a:rPr/>
              <a:t> Continuous Integration with GitHub Actions</a:t>
            </a:r>
          </a:p>
          <a:p>
            <a:pPr lvl="0"/>
            <a:r>
              <a:rPr b="1"/>
              <a:t>Course:</a:t>
            </a:r>
            <a:r>
              <a:rPr/>
              <a:t> Software Engineering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2: 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By the end of this lecture, you will be able to:</a:t>
            </a:r>
          </a:p>
          <a:p>
            <a:pPr lvl="0"/>
            <a:r>
              <a:rPr b="1"/>
              <a:t>Define</a:t>
            </a:r>
            <a:r>
              <a:rPr/>
              <a:t> Continuous Integration (CI) and its value in a team workflow.</a:t>
            </a:r>
          </a:p>
          <a:p>
            <a:pPr lvl="0"/>
            <a:r>
              <a:rPr b="1"/>
              <a:t>Read and write</a:t>
            </a:r>
            <a:r>
              <a:rPr/>
              <a:t> a basic GitHub Actions workflow file using YAML syntax.</a:t>
            </a:r>
          </a:p>
          <a:p>
            <a:pPr lvl="0"/>
            <a:r>
              <a:rPr b="1"/>
              <a:t>Implement</a:t>
            </a:r>
            <a:r>
              <a:rPr/>
              <a:t> a CI pipeline that automatically runs </a:t>
            </a:r>
            <a:r>
              <a:rPr>
                <a:latin typeface="Courier"/>
              </a:rPr>
              <a:t>pytest</a:t>
            </a:r>
            <a:r>
              <a:rPr/>
              <a:t> on every commit.</a:t>
            </a:r>
          </a:p>
          <a:p>
            <a:pPr lvl="0"/>
            <a:r>
              <a:rPr b="1"/>
              <a:t>Explain</a:t>
            </a:r>
            <a:r>
              <a:rPr/>
              <a:t> how a CI pipeline functions as a source of </a:t>
            </a:r>
            <a:r>
              <a:rPr i="1"/>
              <a:t>evidence</a:t>
            </a:r>
            <a:r>
              <a:rPr/>
              <a:t> for code quality.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3: Bridging Context: From “Angband” to “MoJ”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Key Point:</a:t>
            </a:r>
            <a:r>
              <a:rPr/>
              <a:t> In the first half of the course, building and testing </a:t>
            </a:r>
            <a:r>
              <a:rPr>
                <a:latin typeface="Courier"/>
              </a:rPr>
              <a:t>Angband</a:t>
            </a:r>
            <a:r>
              <a:rPr/>
              <a:t> was a </a:t>
            </a:r>
            <a:r>
              <a:rPr b="1"/>
              <a:t>manual</a:t>
            </a:r>
            <a:r>
              <a:rPr/>
              <a:t> process.</a:t>
            </a:r>
          </a:p>
          <a:p>
            <a:pPr lvl="0"/>
            <a:r>
              <a:rPr/>
              <a:t>You had to </a:t>
            </a:r>
            <a:r>
              <a:rPr i="1"/>
              <a:t>remember</a:t>
            </a:r>
            <a:r>
              <a:rPr/>
              <a:t> to run </a:t>
            </a:r>
            <a:r>
              <a:rPr>
                <a:latin typeface="Courier"/>
              </a:rPr>
              <a:t>make</a:t>
            </a:r>
            <a:r>
              <a:rPr/>
              <a:t>, </a:t>
            </a:r>
            <a:r>
              <a:rPr>
                <a:latin typeface="Courier"/>
              </a:rPr>
              <a:t>make test</a:t>
            </a:r>
            <a:r>
              <a:rPr/>
              <a:t>, or other scripts on your </a:t>
            </a:r>
            <a:r>
              <a:rPr i="1"/>
              <a:t>local</a:t>
            </a:r>
            <a:r>
              <a:rPr/>
              <a:t> machine.</a:t>
            </a:r>
          </a:p>
          <a:p>
            <a:pPr lvl="0"/>
            <a:r>
              <a:rPr/>
              <a:t>This is slow, error-prone, and leads to the “it worked on my machine!” problem.</a:t>
            </a:r>
          </a:p>
          <a:p>
            <a:pPr lvl="0"/>
            <a:r>
              <a:rPr b="1"/>
              <a:t>Key Point:</a:t>
            </a:r>
            <a:r>
              <a:rPr/>
              <a:t> For our “greenfield” MoJ project, we will </a:t>
            </a:r>
            <a:r>
              <a:rPr b="1"/>
              <a:t>automate</a:t>
            </a:r>
            <a:r>
              <a:rPr/>
              <a:t> this process from day one. Our engineering goal: </a:t>
            </a:r>
            <a:r>
              <a:rPr b="1"/>
              <a:t>Never merge broken code.</a:t>
            </a:r>
          </a:p>
          <a:p>
            <a:pPr lvl="0" indent="0">
              <a:buNone/>
            </a:pPr>
            <a:r>
              <a:rPr>
                <a:latin typeface="Courier"/>
              </a:rPr>
              <a:t>Speaker Note: Ask the class: "Hands up, who *forgot* to run the tests at least once before pushing a change for Angband? What was the result?" This connects their past pain to the new solution. "This automation is our first step in moving from a *hope-based* development model to an *evidence-based* one."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4: What is Continuous Integration (CI)?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Key Point:</a:t>
            </a:r>
            <a:r>
              <a:rPr/>
              <a:t> CI is the </a:t>
            </a:r>
            <a:r>
              <a:rPr i="1"/>
              <a:t>practice</a:t>
            </a:r>
            <a:r>
              <a:rPr/>
              <a:t> of automatically building and testing your code every time a developer pushes a change to a shared repository.</a:t>
            </a:r>
          </a:p>
          <a:p>
            <a:pPr lvl="0"/>
            <a:r>
              <a:rPr/>
              <a:t>It’s a </a:t>
            </a:r>
            <a:r>
              <a:rPr b="1"/>
              <a:t>safety net</a:t>
            </a:r>
            <a:r>
              <a:rPr/>
              <a:t> and a </a:t>
            </a:r>
            <a:r>
              <a:rPr b="1"/>
              <a:t>feedback loop</a:t>
            </a:r>
            <a:r>
              <a:rPr/>
              <a:t>. It answers the critical question: “Did my new change break the main project?”</a:t>
            </a:r>
          </a:p>
          <a:p>
            <a:pPr lvl="0"/>
            <a:r>
              <a:rPr b="1"/>
              <a:t>Historical Hook 📜:</a:t>
            </a:r>
            <a:r>
              <a:rPr/>
              <a:t> The concept was popularized in the late 90s as part of </a:t>
            </a:r>
            <a:r>
              <a:rPr b="1"/>
              <a:t>Extreme Programming (XP)</a:t>
            </a:r>
            <a:r>
              <a:rPr/>
              <a:t>. The goal was to solve “integration hell”—the nightmare of merging weeks of work from different developers at the end of a project, only to find nothing worked.</a:t>
            </a:r>
          </a:p>
          <a:p>
            <a:pPr lvl="0"/>
            <a:r>
              <a:rPr/>
              <a:t>Speaker Note: Emphasize that CI forces </a:t>
            </a:r>
            <a:r>
              <a:rPr i="1"/>
              <a:t>small, frequent</a:t>
            </a:r>
            <a:r>
              <a:rPr/>
              <a:t> integrations, which are much safer and easier to debug. The cost is a little setup time. The benefit is a massive reduction in future debugging.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5: Why Do We Use CI? (The Value)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1. Reduces Risk:</a:t>
            </a:r>
            <a:r>
              <a:rPr/>
              <a:t> Catches bugs, integration errors, and broken tests </a:t>
            </a:r>
            <a:r>
              <a:rPr i="1"/>
              <a:t>immediately</a:t>
            </a:r>
            <a:r>
              <a:rPr/>
              <a:t>, not days or weeks later when the code is harder to fix.</a:t>
            </a:r>
          </a:p>
          <a:p>
            <a:pPr lvl="0"/>
            <a:r>
              <a:rPr b="1"/>
              <a:t>2. Improves Quality:</a:t>
            </a:r>
            <a:r>
              <a:rPr/>
              <a:t> Enforces quality standards (like running tests and linters) on </a:t>
            </a:r>
            <a:r>
              <a:rPr i="1"/>
              <a:t>every single commit</a:t>
            </a:r>
            <a:r>
              <a:rPr/>
              <a:t>, not just when someone remembers.</a:t>
            </a:r>
          </a:p>
          <a:p>
            <a:pPr lvl="0"/>
            <a:r>
              <a:rPr b="1"/>
              <a:t>3. Increases Velocity:</a:t>
            </a:r>
            <a:r>
              <a:rPr/>
              <a:t> Automates repetitive tasks (testing, deploying), letting developers focus on building features.</a:t>
            </a:r>
          </a:p>
          <a:p>
            <a:pPr lvl="0"/>
            <a:r>
              <a:rPr/>
              <a:t>Speaker Note: “I mentioned ‘linters’ on that second point. What is a linter? It’s a tool that’s like a grammar checker for your code. It doesn’t run the code, but it </a:t>
            </a:r>
            <a:r>
              <a:rPr i="1"/>
              <a:t>does</a:t>
            </a:r>
            <a:r>
              <a:rPr/>
              <a:t> check it for stylistic errors, like bad formatting, unused variables, or common mistakes. By running a linter automatically, we enforce a </a:t>
            </a:r>
            <a:r>
              <a:rPr i="1"/>
              <a:t>single, consistent style guide</a:t>
            </a:r>
            <a:r>
              <a:rPr/>
              <a:t> for the whole team and catch simple bugs before they even get to the testing phase.”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6: Our Tool: GitHub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Key Point:</a:t>
            </a:r>
            <a:r>
              <a:rPr/>
              <a:t> GitHub Actions is a CI/CD tool built directly into GitHub.</a:t>
            </a:r>
          </a:p>
          <a:p>
            <a:pPr lvl="0"/>
            <a:r>
              <a:rPr/>
              <a:t>It’s </a:t>
            </a:r>
            <a:r>
              <a:rPr b="1"/>
              <a:t>event-driven</a:t>
            </a:r>
            <a:r>
              <a:rPr/>
              <a:t>. It “listens” for events (like a </a:t>
            </a:r>
            <a:r>
              <a:rPr>
                <a:latin typeface="Courier"/>
              </a:rPr>
              <a:t>push</a:t>
            </a:r>
            <a:r>
              <a:rPr/>
              <a:t> or </a:t>
            </a:r>
            <a:r>
              <a:rPr>
                <a:latin typeface="Courier"/>
              </a:rPr>
              <a:t>pull_request</a:t>
            </a:r>
            <a:r>
              <a:rPr/>
              <a:t>) and then “runs” a set of commands (a “workflow”).</a:t>
            </a:r>
          </a:p>
          <a:p>
            <a:pPr lvl="0"/>
            <a:r>
              <a:rPr b="1"/>
              <a:t>Key Point:</a:t>
            </a:r>
            <a:r>
              <a:rPr/>
              <a:t> Workflows are defined in </a:t>
            </a:r>
            <a:r>
              <a:rPr b="1"/>
              <a:t>YAML</a:t>
            </a:r>
            <a:r>
              <a:rPr/>
              <a:t> files placed in a special directory in your repository: </a:t>
            </a:r>
            <a:r>
              <a:rPr>
                <a:latin typeface="Courier"/>
              </a:rPr>
              <a:t>.github/workflows/</a:t>
            </a:r>
            <a:r>
              <a:rPr/>
              <a:t>.</a:t>
            </a:r>
          </a:p>
          <a:p>
            <a:pPr lvl="0"/>
            <a:r>
              <a:rPr/>
              <a:t>Speaker Note: You may not have heard of YAML, but you’ve seen it. It stands for “YAML Ain’t Markup Language.” It’s just a human-readable way to write configuration data. We’ll learn it by example.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7: Anatomy of a Workflow: </a:t>
            </a:r>
            <a:r>
              <a:rPr>
                <a:latin typeface="Courier"/>
              </a:rPr>
              <a:t>name</a:t>
            </a:r>
            <a:r>
              <a:rPr/>
              <a:t> and </a:t>
            </a:r>
            <a:r>
              <a:rPr>
                <a:latin typeface="Courier"/>
              </a:rPr>
              <a:t>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Key Point:</a:t>
            </a:r>
            <a:r>
              <a:rPr/>
              <a:t> A workflow file always starts with two key things: a </a:t>
            </a:r>
            <a:r>
              <a:rPr>
                <a:latin typeface="Courier"/>
              </a:rPr>
              <a:t>name</a:t>
            </a:r>
            <a:r>
              <a:rPr/>
              <a:t> for the workflow and the </a:t>
            </a:r>
            <a:r>
              <a:rPr>
                <a:latin typeface="Courier"/>
              </a:rPr>
              <a:t>on</a:t>
            </a:r>
            <a:r>
              <a:rPr/>
              <a:t> trigger that specifies when it should run.</a:t>
            </a:r>
          </a:p>
          <a:p>
            <a:pPr lvl="0"/>
            <a:r>
              <a:rPr b="1"/>
              <a:t>Code Example:</a:t>
            </a:r>
          </a:p>
          <a:p>
            <a:pPr lvl="1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This is a comment in YAML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1. A name for this workflow (shows up in GitHub)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Python CI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2. When to run it?</a:t>
            </a:r>
            <a:br/>
            <a:r>
              <a:rPr>
                <a:solidFill>
                  <a:srgbClr val="06287E"/>
                </a:solidFill>
                <a:latin typeface="Courier"/>
              </a:rPr>
              <a:t>on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[</a:t>
            </a:r>
            <a:r>
              <a:rPr>
                <a:solidFill>
                  <a:srgbClr val="7D9029"/>
                </a:solidFill>
                <a:latin typeface="Courier"/>
              </a:rPr>
              <a:t>push</a:t>
            </a:r>
            <a:r>
              <a:rPr b="1">
                <a:solidFill>
                  <a:srgbClr val="007020"/>
                </a:solidFill>
                <a:latin typeface="Courier"/>
              </a:rPr>
              <a:t>]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This configuration runs the workflow on *every push* # to *every branch* in the repository.</a:t>
            </a:r>
          </a:p>
          <a:p>
            <a:pPr lvl="0"/>
            <a:r>
              <a:rPr/>
              <a:t>Speaker Note: Emphasize the </a:t>
            </a:r>
            <a:r>
              <a:rPr>
                <a:latin typeface="Courier"/>
              </a:rPr>
              <a:t>on:</a:t>
            </a:r>
            <a:r>
              <a:rPr/>
              <a:t> trigger. This is the event listener. We can make this much more specific (e.g., only on the </a:t>
            </a:r>
            <a:r>
              <a:rPr>
                <a:latin typeface="Courier"/>
              </a:rPr>
              <a:t>main</a:t>
            </a:r>
            <a:r>
              <a:rPr/>
              <a:t> branch, or only on </a:t>
            </a:r>
            <a:r>
              <a:rPr>
                <a:latin typeface="Courier"/>
              </a:rPr>
              <a:t>pull_request</a:t>
            </a:r>
            <a:r>
              <a:rPr/>
              <a:t>). For now, </a:t>
            </a:r>
            <a:r>
              <a:rPr>
                <a:latin typeface="Courier"/>
              </a:rPr>
              <a:t>[push]</a:t>
            </a:r>
            <a:r>
              <a:rPr/>
              <a:t> is simple and effective.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8: Anatomy of a Workflow: </a:t>
            </a:r>
            <a:r>
              <a:rPr>
                <a:latin typeface="Courier"/>
              </a:rPr>
              <a:t>jobs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Key Point:</a:t>
            </a:r>
            <a:r>
              <a:rPr/>
              <a:t> A workflow is made of one or more </a:t>
            </a:r>
            <a:r>
              <a:rPr>
                <a:latin typeface="Courier"/>
              </a:rPr>
              <a:t>jobs</a:t>
            </a:r>
            <a:r>
              <a:rPr/>
              <a:t>. A </a:t>
            </a:r>
            <a:r>
              <a:rPr>
                <a:latin typeface="Courier"/>
              </a:rPr>
              <a:t>job</a:t>
            </a:r>
            <a:r>
              <a:rPr/>
              <a:t> is a set of steps that run on a specific “runner” (a virtual machine).</a:t>
            </a:r>
          </a:p>
          <a:p>
            <a:pPr lvl="0"/>
            <a:r>
              <a:rPr b="1"/>
              <a:t>Key Point:</a:t>
            </a:r>
            <a:r>
              <a:rPr/>
              <a:t> Jobs run in parallel by default, but can be configured to run sequentially.</a:t>
            </a:r>
          </a:p>
          <a:p>
            <a:pPr lvl="0"/>
            <a:r>
              <a:rPr b="1"/>
              <a:t>Code Example:</a:t>
            </a:r>
          </a:p>
          <a:p>
            <a:pPr lvl="1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... (name: and on: are above) ...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3. What jobs to run?</a:t>
            </a:r>
            <a:br/>
            <a:r>
              <a:rPr>
                <a:solidFill>
                  <a:srgbClr val="06287E"/>
                </a:solidFill>
                <a:latin typeface="Courier"/>
              </a:rPr>
              <a:t>jobs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  # 4. Give the job a unique ID (e.g., "build")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build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    # 5. What OS to run on?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    # We will use our own laptops as "self-hosted" runners.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runs-on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self-hosted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    # 6. What are the steps to run?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steps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      # (Steps go here... see next slide)</a:t>
            </a:r>
          </a:p>
          <a:p>
            <a:pPr lvl="0"/>
            <a:r>
              <a:rPr/>
              <a:t>Speaker Note: “Pay close attention to </a:t>
            </a:r>
            <a:r>
              <a:rPr>
                <a:latin typeface="Courier"/>
              </a:rPr>
              <a:t>runs-on: self-hosted</a:t>
            </a:r>
            <a:r>
              <a:rPr/>
              <a:t>. Public GitHub projects can use runners provided by GitHub, like </a:t>
            </a:r>
            <a:r>
              <a:rPr>
                <a:latin typeface="Courier"/>
              </a:rPr>
              <a:t>ubuntu-latest</a:t>
            </a:r>
            <a:r>
              <a:rPr/>
              <a:t>. But our repositories are </a:t>
            </a:r>
            <a:r>
              <a:rPr b="1"/>
              <a:t>private</a:t>
            </a:r>
            <a:r>
              <a:rPr/>
              <a:t>. For security and cost reasons, GitHub doesn’t provide free runners for private repos.”So, we will use </a:t>
            </a:r>
            <a:r>
              <a:rPr b="1"/>
              <a:t>self-hosted runners</a:t>
            </a:r>
            <a:r>
              <a:rPr/>
              <a:t>. This means you are configuring your </a:t>
            </a:r>
            <a:r>
              <a:rPr i="1"/>
              <a:t>own machine</a:t>
            </a:r>
            <a:r>
              <a:rPr/>
              <a:t> (your laptop) to securely listen for jobs from </a:t>
            </a:r>
            <a:r>
              <a:rPr i="1"/>
              <a:t>your</a:t>
            </a:r>
            <a:r>
              <a:rPr/>
              <a:t> repository. This is very common in companies that have private code. You must follow the </a:t>
            </a:r>
            <a:r>
              <a:rPr b="1"/>
              <a:t>‘Self-Hosted Runner Setup Guide’</a:t>
            </a:r>
            <a:r>
              <a:rPr/>
              <a:t> on Canvas to get this working. It’s a one-time setup.” “Also, that </a:t>
            </a:r>
            <a:r>
              <a:rPr>
                <a:latin typeface="Courier"/>
              </a:rPr>
              <a:t>build:</a:t>
            </a:r>
            <a:r>
              <a:rPr/>
              <a:t> ID on line 4? That just needs to be a unique name for this job </a:t>
            </a:r>
            <a:r>
              <a:rPr i="1"/>
              <a:t>inside this file</a:t>
            </a:r>
            <a:r>
              <a:rPr/>
              <a:t>. It’s how you’d tell other jobs to ‘wait for the </a:t>
            </a:r>
            <a:r>
              <a:rPr>
                <a:latin typeface="Courier"/>
              </a:rPr>
              <a:t>build</a:t>
            </a:r>
            <a:r>
              <a:rPr/>
              <a:t> job to finish’ if you had a more complex pipeline.”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9: Anatomy of a Workflow: </a:t>
            </a:r>
            <a:r>
              <a:rPr>
                <a:latin typeface="Courier"/>
              </a:rPr>
              <a:t>steps</a:t>
            </a:r>
            <a:r>
              <a:rPr/>
              <a:t> (Part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Key Point:</a:t>
            </a:r>
            <a:r>
              <a:rPr/>
              <a:t> </a:t>
            </a:r>
            <a:r>
              <a:rPr>
                <a:latin typeface="Courier"/>
              </a:rPr>
              <a:t>steps</a:t>
            </a:r>
            <a:r>
              <a:rPr/>
              <a:t> are the </a:t>
            </a:r>
            <a:r>
              <a:rPr i="1"/>
              <a:t>actual commands</a:t>
            </a:r>
            <a:r>
              <a:rPr/>
              <a:t> the job will run, in order.</a:t>
            </a:r>
          </a:p>
          <a:p>
            <a:pPr lvl="0"/>
            <a:r>
              <a:rPr/>
              <a:t>You can use pre-built “actions” (like </a:t>
            </a:r>
            <a:r>
              <a:rPr>
                <a:latin typeface="Courier"/>
              </a:rPr>
              <a:t>actions/checkout</a:t>
            </a:r>
            <a:r>
              <a:rPr/>
              <a:t>) or run your own shell commands (using </a:t>
            </a:r>
            <a:r>
              <a:rPr>
                <a:latin typeface="Courier"/>
              </a:rPr>
              <a:t>run:</a:t>
            </a:r>
            <a:r>
              <a:rPr/>
              <a:t>).</a:t>
            </a:r>
          </a:p>
          <a:p>
            <a:pPr lvl="0"/>
            <a:r>
              <a:rPr b="1"/>
              <a:t>Code Example:</a:t>
            </a:r>
          </a:p>
          <a:p>
            <a:pPr lvl="1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... (inside the "build:" job) ...</a:t>
            </a:r>
            <a:br/>
            <a:r>
              <a:rPr>
                <a:solidFill>
                  <a:srgbClr val="06287E"/>
                </a:solidFill>
                <a:latin typeface="Courier"/>
              </a:rPr>
              <a:t>steps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  # Step 1: Check out our repository's code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  # This action lets the runner access our project files.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uses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actions/checkout@v4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  # Step 2: Set up a specific Python version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Set up Python 3.10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uses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actions/setup-python@v5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with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</a:t>
            </a:r>
            <a:r>
              <a:rPr>
                <a:solidFill>
                  <a:srgbClr val="06287E"/>
                </a:solidFill>
                <a:latin typeface="Courier"/>
              </a:rPr>
              <a:t>python-version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"3.10"</a:t>
            </a:r>
          </a:p>
          <a:p>
            <a:pPr lvl="0"/>
            <a:r>
              <a:rPr/>
              <a:t>Speaker Note: “Let’s look at </a:t>
            </a:r>
            <a:r>
              <a:rPr>
                <a:latin typeface="Courier"/>
              </a:rPr>
              <a:t>uses: actions/checkout@v4</a:t>
            </a:r>
            <a:r>
              <a:rPr/>
              <a:t>. </a:t>
            </a:r>
            <a:r>
              <a:rPr>
                <a:latin typeface="Courier"/>
              </a:rPr>
              <a:t>actions/checkout</a:t>
            </a:r>
            <a:r>
              <a:rPr/>
              <a:t> is a script written by GitHub that pulls your code into the runner. The </a:t>
            </a:r>
            <a:r>
              <a:rPr>
                <a:latin typeface="Courier"/>
              </a:rPr>
              <a:t>@v4</a:t>
            </a:r>
            <a:r>
              <a:rPr/>
              <a:t> is critical. This is </a:t>
            </a:r>
            <a:r>
              <a:rPr b="1"/>
              <a:t>version pinning</a:t>
            </a:r>
            <a:r>
              <a:rPr/>
              <a:t>. We are telling GitHub to use </a:t>
            </a:r>
            <a:r>
              <a:rPr i="1"/>
              <a:t>exactly</a:t>
            </a:r>
            <a:r>
              <a:rPr/>
              <a:t> version 4 of this action. Why? Because it’s stable and we know it works. If we just said </a:t>
            </a:r>
            <a:r>
              <a:rPr>
                <a:latin typeface="Courier"/>
              </a:rPr>
              <a:t>actions/checkout</a:t>
            </a:r>
            <a:r>
              <a:rPr/>
              <a:t>, we’d get the </a:t>
            </a:r>
            <a:r>
              <a:rPr i="1"/>
              <a:t>latest</a:t>
            </a:r>
            <a:r>
              <a:rPr/>
              <a:t> version. If the author released a new, buggy </a:t>
            </a:r>
            <a:r>
              <a:rPr>
                <a:latin typeface="Courier"/>
              </a:rPr>
              <a:t>v5</a:t>
            </a:r>
            <a:r>
              <a:rPr/>
              <a:t> tomorrow, our pipeline would break for no reason. Version pinning is a core engineering practice for creating stable, repeatable builds.”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10: Anatomy of a Workflow: </a:t>
            </a:r>
            <a:r>
              <a:rPr>
                <a:latin typeface="Courier"/>
              </a:rPr>
              <a:t>steps</a:t>
            </a:r>
            <a:r>
              <a:rPr/>
              <a:t> (Part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Key Point:</a:t>
            </a:r>
            <a:r>
              <a:rPr/>
              <a:t> Once the environment is set up, we use </a:t>
            </a:r>
            <a:r>
              <a:rPr>
                <a:latin typeface="Courier"/>
              </a:rPr>
              <a:t>run:</a:t>
            </a:r>
            <a:r>
              <a:rPr/>
              <a:t> to execute shell commands, just like in our own terminal.</a:t>
            </a:r>
          </a:p>
          <a:p>
            <a:pPr lvl="0"/>
            <a:r>
              <a:rPr/>
              <a:t>We need to install our project’s dependencies before we can run our code.</a:t>
            </a:r>
          </a:p>
          <a:p>
            <a:pPr lvl="0"/>
            <a:r>
              <a:rPr b="1"/>
              <a:t>Code Example:</a:t>
            </a:r>
          </a:p>
          <a:p>
            <a:pPr lvl="1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... (previous steps: checkout, setup-python) ...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  # Step 3: Install dependencies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Install dependencies</a:t>
            </a:r>
            <a:br/>
            <a:r>
              <a:rPr>
                <a:solidFill>
                  <a:srgbClr val="06287E"/>
                </a:solidFill>
                <a:latin typeface="Courier"/>
              </a:rPr>
              <a:t>    run</a:t>
            </a:r>
            <a:r>
              <a:rPr b="1">
                <a:solidFill>
                  <a:srgbClr val="007020"/>
                </a:solidFill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br/>
            <a:r>
              <a:rPr>
                <a:latin typeface="Courier"/>
              </a:rPr>
              <a:t>      python -m pip install --upgrade pip</a:t>
            </a:r>
            <a:br/>
            <a:r>
              <a:rPr>
                <a:latin typeface="Courier"/>
              </a:rPr>
              <a:t>      pip install -r requirements.txt</a:t>
            </a:r>
          </a:p>
          <a:p>
            <a:pPr lvl="0"/>
            <a:r>
              <a:rPr/>
              <a:t>Speaker Note: Point out the </a:t>
            </a:r>
            <a:r>
              <a:rPr>
                <a:latin typeface="Courier"/>
              </a:rPr>
              <a:t>|</a:t>
            </a:r>
            <a:r>
              <a:rPr/>
              <a:t> (pipe) character. This lets us write a multi-line shell script for a single </a:t>
            </a:r>
            <a:r>
              <a:rPr>
                <a:latin typeface="Courier"/>
              </a:rPr>
              <a:t>run</a:t>
            </a:r>
            <a:r>
              <a:rPr/>
              <a:t> command. This is where we install Flask, Pytest, etc., as defined in our </a:t>
            </a:r>
            <a:r>
              <a:rPr>
                <a:latin typeface="Courier"/>
              </a:rPr>
              <a:t>requirements.txt</a:t>
            </a:r>
            <a:r>
              <a:rPr/>
              <a:t>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11: Anatomy of a Workflow: </a:t>
            </a:r>
            <a:r>
              <a:rPr>
                <a:latin typeface="Courier"/>
              </a:rPr>
              <a:t>steps</a:t>
            </a:r>
            <a:r>
              <a:rPr/>
              <a:t> (Part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Key Point:</a:t>
            </a:r>
            <a:r>
              <a:rPr/>
              <a:t> The </a:t>
            </a:r>
            <a:r>
              <a:rPr i="1"/>
              <a:t>most important</a:t>
            </a:r>
            <a:r>
              <a:rPr/>
              <a:t> step is running our test suite.</a:t>
            </a:r>
          </a:p>
          <a:p>
            <a:pPr lvl="0"/>
            <a:r>
              <a:rPr/>
              <a:t>If any command in a step fails (returns a non-zero exit code), the </a:t>
            </a:r>
            <a:r>
              <a:rPr i="1"/>
              <a:t>entire job fails</a:t>
            </a:r>
            <a:r>
              <a:rPr/>
              <a:t>.</a:t>
            </a:r>
          </a:p>
          <a:p>
            <a:pPr lvl="0"/>
            <a:r>
              <a:rPr/>
              <a:t>This is how CI “catches” errors and reports a failure.</a:t>
            </a:r>
          </a:p>
          <a:p>
            <a:pPr lvl="0"/>
            <a:r>
              <a:rPr b="1"/>
              <a:t>Code Example:</a:t>
            </a:r>
          </a:p>
          <a:p>
            <a:pPr lvl="1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... (previous steps: checkout, setup-python, install) ...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  # Step 4: Run our tests!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Run Pytest</a:t>
            </a:r>
            <a:br/>
            <a:r>
              <a:rPr>
                <a:solidFill>
                  <a:srgbClr val="06287E"/>
                </a:solidFill>
                <a:latin typeface="Courier"/>
              </a:rPr>
              <a:t>    run</a:t>
            </a:r>
            <a:r>
              <a:rPr b="1">
                <a:solidFill>
                  <a:srgbClr val="007020"/>
                </a:solidFill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br/>
            <a:r>
              <a:rPr>
                <a:latin typeface="Courier"/>
              </a:rPr>
              <a:t>      pytest</a:t>
            </a:r>
          </a:p>
          <a:p>
            <a:pPr lvl="0"/>
            <a:r>
              <a:rPr/>
              <a:t>Speaker Note: This is the moment of truth! If </a:t>
            </a:r>
            <a:r>
              <a:rPr>
                <a:latin typeface="Courier"/>
              </a:rPr>
              <a:t>pytest</a:t>
            </a:r>
            <a:r>
              <a:rPr/>
              <a:t> finds a failing test, it will exit with a non-zero code. This </a:t>
            </a:r>
            <a:r>
              <a:rPr>
                <a:latin typeface="Courier"/>
              </a:rPr>
              <a:t>Run Pytest</a:t>
            </a:r>
            <a:r>
              <a:rPr/>
              <a:t> step will fail, the </a:t>
            </a:r>
            <a:r>
              <a:rPr>
                <a:latin typeface="Courier"/>
              </a:rPr>
              <a:t>build</a:t>
            </a:r>
            <a:r>
              <a:rPr/>
              <a:t> job will fail, and GitHub will report a big red ‘X’ next to our commit. This is the feedback loop in action.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12: Evidence-Driven Engineering 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Key Point:</a:t>
            </a:r>
            <a:r>
              <a:rPr/>
              <a:t> How do we </a:t>
            </a:r>
            <a:r>
              <a:rPr i="1"/>
              <a:t>prove</a:t>
            </a:r>
            <a:r>
              <a:rPr/>
              <a:t> our project is stable? We use the CI pipeline as our </a:t>
            </a:r>
            <a:r>
              <a:rPr b="1"/>
              <a:t>source of evidence</a:t>
            </a:r>
            <a:r>
              <a:rPr/>
              <a:t>.</a:t>
            </a:r>
          </a:p>
          <a:p>
            <a:pPr lvl="0"/>
            <a:r>
              <a:rPr/>
              <a:t>A </a:t>
            </a:r>
            <a:r>
              <a:rPr b="1"/>
              <a:t>“Green Build”</a:t>
            </a:r>
            <a:r>
              <a:rPr/>
              <a:t> (all checks pass) is the </a:t>
            </a:r>
            <a:r>
              <a:rPr i="1"/>
              <a:t>evidence</a:t>
            </a:r>
            <a:r>
              <a:rPr/>
              <a:t> that the new code is safe to merge.</a:t>
            </a:r>
          </a:p>
          <a:p>
            <a:pPr lvl="0"/>
            <a:r>
              <a:rPr/>
              <a:t>A </a:t>
            </a:r>
            <a:r>
              <a:rPr b="1"/>
              <a:t>“Red Build”</a:t>
            </a:r>
            <a:r>
              <a:rPr/>
              <a:t> (checks fail) is a clear, objective signal to </a:t>
            </a:r>
            <a:r>
              <a:rPr i="1"/>
              <a:t>stop</a:t>
            </a:r>
            <a:r>
              <a:rPr/>
              <a:t> and fix the problem before it gets merged into </a:t>
            </a:r>
            <a:r>
              <a:rPr>
                <a:latin typeface="Courier"/>
              </a:rPr>
              <a:t>main</a:t>
            </a:r>
            <a:r>
              <a:rPr/>
              <a:t>.</a:t>
            </a:r>
          </a:p>
          <a:p>
            <a:pPr lvl="0"/>
            <a:r>
              <a:rPr b="1"/>
              <a:t>Instructor Note:</a:t>
            </a:r>
            <a:r>
              <a:rPr/>
              <a:t> “For your project, you will make this evidence </a:t>
            </a:r>
            <a:r>
              <a:rPr i="1"/>
              <a:t>public</a:t>
            </a:r>
            <a:r>
              <a:rPr/>
              <a:t> by adding a </a:t>
            </a:r>
            <a:r>
              <a:rPr b="1"/>
              <a:t>CI status badge</a:t>
            </a:r>
            <a:r>
              <a:rPr/>
              <a:t> to your </a:t>
            </a:r>
            <a:r>
              <a:rPr>
                <a:latin typeface="Courier"/>
              </a:rPr>
              <a:t>README.md</a:t>
            </a:r>
            <a:r>
              <a:rPr/>
              <a:t>. A status badge is a small image, provided by GitHub, that automatically shows ‘passing’ (green) or ‘failing’ (red) based on the last CI run on your </a:t>
            </a:r>
            <a:r>
              <a:rPr>
                <a:latin typeface="Courier"/>
              </a:rPr>
              <a:t>main</a:t>
            </a:r>
            <a:r>
              <a:rPr/>
              <a:t> branch. You can get the Markdown for this badge directly from your repository’s ‘Actions’ tab. Adding this to your README is a point of professional pride. It’s a live, quantitative metric of your team’s health that is visible to everyone.”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13: Next: In-Class Exercise (ICE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Topic:</a:t>
            </a:r>
            <a:r>
              <a:rPr/>
              <a:t> Time to build it yourself.</a:t>
            </a:r>
          </a:p>
          <a:p>
            <a:pPr lvl="0"/>
            <a:r>
              <a:rPr b="1"/>
              <a:t>Task:</a:t>
            </a:r>
            <a:r>
              <a:rPr/>
              <a:t> You will create your first workflow file, </a:t>
            </a:r>
            <a:r>
              <a:rPr>
                <a:latin typeface="Courier"/>
              </a:rPr>
              <a:t>main.yml</a:t>
            </a:r>
            <a:r>
              <a:rPr/>
              <a:t>, in the </a:t>
            </a:r>
            <a:r>
              <a:rPr>
                <a:latin typeface="Courier"/>
              </a:rPr>
              <a:t>.github/workflows/</a:t>
            </a:r>
            <a:r>
              <a:rPr/>
              <a:t> directory.</a:t>
            </a:r>
          </a:p>
          <a:p>
            <a:pPr lvl="0"/>
            <a:r>
              <a:rPr b="1"/>
              <a:t>Goal:</a:t>
            </a:r>
            <a:r>
              <a:rPr/>
              <a:t> This workflow will automatically:</a:t>
            </a:r>
          </a:p>
          <a:p>
            <a:pPr lvl="1" indent="-342900" marL="685800">
              <a:buAutoNum type="arabicPeriod"/>
            </a:pPr>
            <a:r>
              <a:rPr/>
              <a:t>Check out your code.</a:t>
            </a:r>
          </a:p>
          <a:p>
            <a:pPr lvl="1" indent="-342900" marL="685800">
              <a:buAutoNum type="arabicPeriod"/>
            </a:pPr>
            <a:r>
              <a:rPr/>
              <a:t>Set up Python 3.10.</a:t>
            </a:r>
          </a:p>
          <a:p>
            <a:pPr lvl="1" indent="-342900" marL="685800">
              <a:buAutoNum type="arabicPeriod"/>
            </a:pPr>
            <a:r>
              <a:rPr/>
              <a:t>Install dependencies from </a:t>
            </a:r>
            <a:r>
              <a:rPr>
                <a:latin typeface="Courier"/>
              </a:rPr>
              <a:t>requirements.txt</a:t>
            </a:r>
            <a:r>
              <a:rPr/>
              <a:t>.</a:t>
            </a:r>
          </a:p>
          <a:p>
            <a:pPr lvl="1" indent="-342900" marL="685800">
              <a:buAutoNum type="arabicPeriod"/>
            </a:pPr>
            <a:r>
              <a:rPr/>
              <a:t>Run </a:t>
            </a:r>
            <a:r>
              <a:rPr>
                <a:latin typeface="Courier"/>
              </a:rPr>
              <a:t>pytest</a:t>
            </a:r>
            <a:r>
              <a:rPr/>
              <a:t>… and watch it pass!</a:t>
            </a:r>
          </a:p>
          <a:p>
            <a:pPr lvl="0"/>
            <a:r>
              <a:rPr/>
              <a:t>Speaker Note: “This is where we put it all together. Before we start, this is a good time to check that your team’s self-hosted runners are active and listening for jobs, as per the setup guide. This workflow will be ‘queued’ by GitHub but won’t run until your runner picks it up.”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14: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CI (Continuous Integration)</a:t>
            </a:r>
            <a:r>
              <a:rPr/>
              <a:t> is the </a:t>
            </a:r>
            <a:r>
              <a:rPr i="1"/>
              <a:t>practice</a:t>
            </a:r>
            <a:r>
              <a:rPr/>
              <a:t> of automating builds and tests on every commit to get rapid feedback.</a:t>
            </a:r>
          </a:p>
          <a:p>
            <a:pPr lvl="0"/>
            <a:r>
              <a:rPr b="1"/>
              <a:t>GitHub Actions</a:t>
            </a:r>
            <a:r>
              <a:rPr/>
              <a:t> is the </a:t>
            </a:r>
            <a:r>
              <a:rPr i="1"/>
              <a:t>tool</a:t>
            </a:r>
            <a:r>
              <a:rPr/>
              <a:t> we use to implement CI.</a:t>
            </a:r>
          </a:p>
          <a:p>
            <a:pPr lvl="0"/>
            <a:r>
              <a:rPr/>
              <a:t>Workflows are defined in </a:t>
            </a:r>
            <a:r>
              <a:rPr b="1"/>
              <a:t>YAML</a:t>
            </a:r>
            <a:r>
              <a:rPr/>
              <a:t> files (e.g., </a:t>
            </a:r>
            <a:r>
              <a:rPr>
                <a:latin typeface="Courier"/>
              </a:rPr>
              <a:t>main.yml</a:t>
            </a:r>
            <a:r>
              <a:rPr/>
              <a:t>) inside the </a:t>
            </a:r>
            <a:r>
              <a:rPr>
                <a:latin typeface="Courier"/>
              </a:rPr>
              <a:t>.github/workflows/</a:t>
            </a:r>
            <a:r>
              <a:rPr/>
              <a:t> directory.</a:t>
            </a:r>
          </a:p>
          <a:p>
            <a:pPr lvl="0"/>
            <a:r>
              <a:rPr/>
              <a:t>We use </a:t>
            </a:r>
            <a:r>
              <a:rPr b="1">
                <a:latin typeface="Courier"/>
              </a:rPr>
              <a:t>self-hosted</a:t>
            </a:r>
            <a:r>
              <a:rPr b="1"/>
              <a:t> runners</a:t>
            </a:r>
            <a:r>
              <a:rPr/>
              <a:t> because our projects are private.</a:t>
            </a:r>
          </a:p>
          <a:p>
            <a:pPr lvl="0"/>
            <a:r>
              <a:rPr/>
              <a:t>CI provides a critical </a:t>
            </a:r>
            <a:r>
              <a:rPr b="1"/>
              <a:t>safety net</a:t>
            </a:r>
            <a:r>
              <a:rPr/>
              <a:t> and </a:t>
            </a:r>
            <a:r>
              <a:rPr b="1"/>
              <a:t>evidence</a:t>
            </a:r>
            <a:r>
              <a:rPr/>
              <a:t> of code quality </a:t>
            </a:r>
            <a:r>
              <a:rPr i="1"/>
              <a:t>before</a:t>
            </a:r>
            <a:r>
              <a:rPr/>
              <a:t> problems are merged into the </a:t>
            </a:r>
            <a:r>
              <a:rPr>
                <a:latin typeface="Courier"/>
              </a:rPr>
              <a:t>main</a:t>
            </a:r>
            <a:r>
              <a:rPr/>
              <a:t> branch.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2025-10-18T20:14:45Z</dcterms:created>
  <dcterms:modified xsi:type="dcterms:W3CDTF">2025-10-18T20:14:45Z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