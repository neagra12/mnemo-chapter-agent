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Elevating the </a:t>
            </a:r>
            <a:r>
              <a:rPr b="1"/>
              <a:t>HTTP Verb discussion</a:t>
            </a:r>
            <a:r>
              <a:rPr/>
              <a:t> to its own slide is an </a:t>
            </a:r>
            <a:r>
              <a:rPr b="1"/>
              <a:t>excellent strategic move</a:t>
            </a:r>
            <a:r>
              <a:rPr/>
              <a:t> for your lecture. It transforms the concept from a quick speaker note into a high-impact lesson on </a:t>
            </a:r>
            <a:r>
              <a:rPr b="1"/>
              <a:t>security and protocol design</a:t>
            </a:r>
            <a:r>
              <a:rPr/>
              <a:t>, directly reinforcing the value of the web framework.</a:t>
            </a:r>
          </a:p>
          <a:p>
            <a:pPr lvl="0" indent="0" marL="0">
              <a:buNone/>
            </a:pPr>
            <a:r>
              <a:rPr/>
              <a:t>Here is the proposed slide content and corresponding notes, which would likely fit best immediately after your “HTTP is Stateless, Your App is Not” slide.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Proposed Slide: Identity &amp; The Security of HTTP Verbs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The Core Question: How Do We Log In?</a:t>
            </a:r>
          </a:p>
          <a:p>
            <a:pPr lvl="0"/>
            <a:r>
              <a:rPr/>
              <a:t>We must send sensitive data (username/password) to establish the initial session.</a:t>
            </a:r>
          </a:p>
          <a:p>
            <a:pPr lvl="0"/>
            <a:r>
              <a:rPr b="1"/>
              <a:t>Which verb is correct, and why?</a:t>
            </a:r>
            <a:r>
              <a:rPr/>
              <a:t> (</a:t>
            </a:r>
            <a:r>
              <a:rPr>
                <a:latin typeface="Courier"/>
              </a:rPr>
              <a:t>GET</a:t>
            </a:r>
            <a:r>
              <a:rPr/>
              <a:t> or </a:t>
            </a:r>
            <a:r>
              <a:rPr>
                <a:latin typeface="Courier"/>
              </a:rPr>
              <a:t>POST</a:t>
            </a:r>
            <a:r>
              <a:rPr/>
              <a:t>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The Danger of </a:t>
            </a:r>
            <a:r>
              <a:rPr b="1">
                <a:latin typeface="Courier"/>
              </a:rPr>
              <a:t>GET</a:t>
            </a:r>
            <a:r>
              <a:rPr b="1"/>
              <a:t> ⚠️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Verb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Data 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Security Risk (Side-Channel Leakage)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>
                          <a:latin typeface="Courier"/>
                        </a:rPr>
                        <a:t>GET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In the URL</a:t>
                      </a:r>
                      <a:r>
                        <a:rPr/>
                        <a:t> (</a:t>
                      </a:r>
                      <a:r>
                        <a:rPr>
                          <a:latin typeface="Courier"/>
                        </a:rPr>
                        <a:t>/login?user=X&amp;pass=Y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High Risk:</a:t>
                      </a:r>
                      <a:r>
                        <a:rPr/>
                        <a:t> Credentials are saved in: </a:t>
                      </a:r>
                      <a:r>
                        <a:rPr b="1"/>
                        <a:t>Browser History</a:t>
                      </a:r>
                      <a:r>
                        <a:rPr/>
                        <a:t>, </a:t>
                      </a:r>
                      <a:r>
                        <a:rPr b="1"/>
                        <a:t>Server Logs</a:t>
                      </a:r>
                      <a:r>
                        <a:rPr/>
                        <a:t>, and </a:t>
                      </a:r>
                      <a:r>
                        <a:rPr b="1"/>
                        <a:t>Proxy Caches</a:t>
                      </a:r>
                      <a:r>
                        <a:rPr/>
                        <a:t>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>
                          <a:latin typeface="Courier"/>
                        </a:rPr>
                        <a:t>POST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In the Request Body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Low Risk:</a:t>
                      </a:r>
                      <a:r>
                        <a:rPr/>
                        <a:t> Data is </a:t>
                      </a:r>
                      <a:r>
                        <a:rPr i="1"/>
                        <a:t>not</a:t>
                      </a:r>
                      <a:r>
                        <a:rPr/>
                        <a:t> saved in the URL’s typical storage locations.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The Two-Step Solution</a:t>
            </a:r>
          </a:p>
          <a:p>
            <a:pPr lvl="0" indent="-342900" marL="342900">
              <a:buAutoNum type="arabicPeriod"/>
            </a:pPr>
            <a:r>
              <a:rPr b="1"/>
              <a:t>Establish Identity (Login):</a:t>
            </a:r>
            <a:r>
              <a:rPr/>
              <a:t> Use </a:t>
            </a:r>
            <a:r>
              <a:rPr b="1">
                <a:latin typeface="Courier"/>
              </a:rPr>
              <a:t>POST</a:t>
            </a:r>
            <a:r>
              <a:rPr/>
              <a:t>. This is a </a:t>
            </a:r>
            <a:r>
              <a:rPr b="1"/>
              <a:t>write</a:t>
            </a:r>
            <a:r>
              <a:rPr/>
              <a:t> operation that begins the session and protects the credentials from logging/caching.</a:t>
            </a:r>
          </a:p>
          <a:p>
            <a:pPr lvl="0" indent="-342900" marL="342900">
              <a:buAutoNum type="arabicPeriod"/>
            </a:pPr>
            <a:r>
              <a:rPr b="1"/>
              <a:t>Offer Identity (Ongoing Session):</a:t>
            </a:r>
            <a:r>
              <a:rPr/>
              <a:t> Use </a:t>
            </a:r>
            <a:r>
              <a:rPr b="1">
                <a:latin typeface="Courier"/>
              </a:rPr>
              <a:t>GET</a:t>
            </a:r>
            <a:r>
              <a:rPr/>
              <a:t> (for reading) or </a:t>
            </a:r>
            <a:r>
              <a:rPr b="1">
                <a:latin typeface="Courier"/>
              </a:rPr>
              <a:t>POST</a:t>
            </a:r>
            <a:r>
              <a:rPr/>
              <a:t> (for writing). The actual identity (the </a:t>
            </a:r>
            <a:r>
              <a:rPr b="1"/>
              <a:t>Session ID</a:t>
            </a:r>
            <a:r>
              <a:rPr/>
              <a:t>) is safely carried in an </a:t>
            </a:r>
            <a:r>
              <a:rPr b="1"/>
              <a:t>HTTP Header (Cookie)</a:t>
            </a:r>
            <a:r>
              <a:rPr/>
              <a:t> on every request, allowing the application to maintain state.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 for the New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“This slide connects two core ideas: the need for state, and the security implications of HTTP verbs.”</a:t>
            </a:r>
          </a:p>
          <a:p>
            <a:pPr lvl="0" indent="0" marL="0">
              <a:buNone/>
            </a:pPr>
            <a:r>
              <a:rPr/>
              <a:t>“The most critical security decision is how we handle the </a:t>
            </a:r>
            <a:r>
              <a:rPr b="1"/>
              <a:t>initial login</a:t>
            </a:r>
            <a:r>
              <a:rPr/>
              <a:t>. We need to send sensitive identity data—username and password. Technically, you </a:t>
            </a:r>
            <a:r>
              <a:rPr i="1"/>
              <a:t>can</a:t>
            </a:r>
            <a:r>
              <a:rPr/>
              <a:t> do this with a </a:t>
            </a:r>
            <a:r>
              <a:rPr b="1">
                <a:latin typeface="Courier"/>
              </a:rPr>
              <a:t>GET</a:t>
            </a:r>
            <a:r>
              <a:rPr/>
              <a:t> request, by putting the credentials right there in the URL. But this is a massive security failure.”</a:t>
            </a:r>
          </a:p>
          <a:p>
            <a:pPr lvl="0" indent="0" marL="0">
              <a:buNone/>
            </a:pPr>
            <a:r>
              <a:rPr/>
              <a:t>“Why? Because the URL is saved everywhere. Every proxy server, every browser’s history, and every web server’s access log saves the full URL string. If you use </a:t>
            </a:r>
            <a:r>
              <a:rPr>
                <a:latin typeface="Courier"/>
              </a:rPr>
              <a:t>GET</a:t>
            </a:r>
            <a:r>
              <a:rPr/>
              <a:t>, you are permanently writing the user’s password to all those logs. We call this </a:t>
            </a:r>
            <a:r>
              <a:rPr b="1"/>
              <a:t>Side-Channel Leakage</a:t>
            </a:r>
            <a:r>
              <a:rPr/>
              <a:t>.”</a:t>
            </a:r>
          </a:p>
          <a:p>
            <a:pPr lvl="0" indent="0" marL="0">
              <a:buNone/>
            </a:pPr>
            <a:r>
              <a:rPr/>
              <a:t>“Therefore, we use </a:t>
            </a:r>
            <a:r>
              <a:rPr b="1">
                <a:latin typeface="Courier"/>
              </a:rPr>
              <a:t>POST</a:t>
            </a:r>
            <a:r>
              <a:rPr/>
              <a:t>. </a:t>
            </a:r>
            <a:r>
              <a:rPr>
                <a:latin typeface="Courier"/>
              </a:rPr>
              <a:t>POST</a:t>
            </a:r>
            <a:r>
              <a:rPr/>
              <a:t> sends data in the request </a:t>
            </a:r>
            <a:r>
              <a:rPr b="1"/>
              <a:t>body</a:t>
            </a:r>
            <a:r>
              <a:rPr/>
              <a:t>, which is </a:t>
            </a:r>
            <a:r>
              <a:rPr i="1"/>
              <a:t>not</a:t>
            </a:r>
            <a:r>
              <a:rPr/>
              <a:t> saved in those typical logging/caching layers. This is the </a:t>
            </a:r>
            <a:r>
              <a:rPr b="1"/>
              <a:t>correct engineering decision</a:t>
            </a:r>
            <a:r>
              <a:rPr/>
              <a:t> that prioritizes security.”</a:t>
            </a:r>
          </a:p>
          <a:p>
            <a:pPr lvl="0" indent="0" marL="0">
              <a:buNone/>
            </a:pPr>
            <a:r>
              <a:rPr/>
              <a:t>“Crucially, once you’re logged in, the identity is no longer carried by the password or the verb, but by the </a:t>
            </a:r>
            <a:r>
              <a:rPr b="1"/>
              <a:t>Session ID</a:t>
            </a:r>
            <a:r>
              <a:rPr/>
              <a:t> hidden in the </a:t>
            </a:r>
            <a:r>
              <a:rPr b="1"/>
              <a:t>Cookie Header</a:t>
            </a:r>
            <a:r>
              <a:rPr/>
              <a:t>. This mechanism allows you to use </a:t>
            </a:r>
            <a:r>
              <a:rPr>
                <a:latin typeface="Courier"/>
              </a:rPr>
              <a:t>GET</a:t>
            </a:r>
            <a:r>
              <a:rPr/>
              <a:t> for reading data while the </a:t>
            </a:r>
            <a:r>
              <a:rPr b="1"/>
              <a:t>framework</a:t>
            </a:r>
            <a:r>
              <a:rPr/>
              <a:t> ensures your identity is securely validated on every single call.”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2025-10-19T18:10:52Z</dcterms:created>
  <dcterms:modified xsi:type="dcterms:W3CDTF">2025-10-19T18:10:52Z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